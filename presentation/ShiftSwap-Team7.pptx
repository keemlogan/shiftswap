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[Hyoungdo Kim · about 0.5 min]</a:t>
            </a:r>
          </a:p>
          <a:p>
            <a:r>
              <a:t>Good afternoon. We are Team 7. Our project is ShiftSwap, a system that manages part-time shift schedules and substitute requests in small stores. Hyewon will present the problem and the requirements, I will present the design and how we built it with vibe coding, and Minkyung will show the system, the tests and our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[Hyewon Kim · about 0.8 min]</a:t>
            </a:r>
          </a:p>
          <a:p>
            <a:r>
              <a:t>This is a real situation from the café where I work. When a worker cannot come, the owner phones the other workers one at a time. In our store that is usually three to five contacts per request. After someone agrees, the owner edits the spreadsheet, and at month end has to check again whether each of the two workers still qualifies for the weekly holiday allowance.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[Hyewon Kim · about 0.9 min]</a:t>
            </a:r>
          </a:p>
          <a:p>
            <a:r>
              <a:t>We grouped the difficulties into three problems. P1 is the cost of finding a substitute. P2 is that every swap changes two workers' schedules and weekly hours, and nothing recalculates them. P3 is that labour-law pay rules are applied from memory, so mistakes are found only on payday, if at all.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[Hyewon Kim · about 0.9 min]</a:t>
            </a:r>
          </a:p>
          <a:p>
            <a:r>
              <a:t>From interviews and the legal sources we wrote twenty-three functional requirements and sixteen non-functional requirements, classified as product, organisational and external requirements as in Chapter 8. The core logic is captured in fifteen business rules, and the data in eleven tables, which exist both in the browser database and in the shared database. This is well above the course minimum of five use cases and four tables.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[Hyewon Kim · about 1.0 min]</a:t>
            </a:r>
          </a:p>
          <a:p>
            <a:r>
              <a:t>This diagram shows the substitution part of the use-case model. A worker requests a substitute; the request includes finding eligible candidates. A candidate responds, and the owner approves, which includes recomputing the weekly hours. Cancellation by the worker and expiry by the system clock extend the request use case.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[Hyewon Kim · about 1.0 min]</a:t>
            </a:r>
          </a:p>
          <a:p>
            <a:r>
              <a:t>The legal rules became business rules that can be tested. For example, the holiday allowance exists only when the contract has at least fifteen hours a week and the worker was not absent; the hours are capped at forty. In workplaces with five or more regular employees, a part-time worker's hours beyond the contract earn the premium, and the approval card warns when a swap would exceed the legal limit of twelve such hours a week. Because handing a shift over is legally unclear, the attendance effect of a swap is a setting the owner chooses.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[Hyewon Kim · about 0.8 min]</a:t>
            </a:r>
          </a:p>
          <a:p>
            <a:r>
              <a:t>Using the running system showed us a dead end: when nobody's registered availability matched, the owner was told there was no candidate but had nothing to do, and workers had to keep their availability up to date. We changed the requirement. Availability is gone; every co-worker who is not already working is asked, and anyone can answer 'can't'. If all of them do, the request ends clearly: the requester is asked to call the owner, and the owner gets one card to acknowledge. We retired UC-02 and FR-03 instead of reusing their numbers, so traceability stays intact. I now hand over to Hyoungdo.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[Hyoungdo Kim · about 0.9 min]</a:t>
            </a:r>
          </a:p>
          <a:p>
            <a:r>
              <a:t>The application is a static web app on GitHub Pages; it has no application server of its own. The user interface calls application services, one per use-case step. The services call pure rule functions that contain no database code, which is why every rule can be unit-tested. The services work on a SQLite working copy compiled to WebAssembly. In the default shared mode the working copy is loaded from a hosted PostgreSQL database, and every change is sent back as one change set through a single database function that checks the revision and the state rules, so everyone sees the same café. The local demonstration mode keeps the data in the browser, as before.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[Hyoungdo Kim · about 1.0 min]</a:t>
            </a:r>
          </a:p>
          <a:p>
            <a:r>
              <a:t>The most delicate interaction is two candidates accepting at almost the same time. Each acceptance runs in one transaction that first re-reads the request state. Only the first finds it REQUESTED; the second sees ACCEPTED, rolls back, and the worker is told who already took the shift. With the shared database the same holds across two phones: the database accepts only a change set based on the latest revision, so the slower phone reloads, re-runs the acceptance and gets the same message.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[Hyoungdo Kim · about 0.9 min]</a:t>
            </a:r>
          </a:p>
          <a:p>
            <a:r>
              <a:t>This state diagram is the contract between screens, services and tests: every transition has a triggering function and at least one test. For example, a request that reaches its deadline or its shift start without approval expires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[Hyoungdo Kim · about 1.4 min]</a:t>
            </a:r>
          </a:p>
          <a:p>
            <a:r>
              <a:t>We did not write code by hand. We wrote one prompt that treats the specification as a contract, and let the AI coding assistant build the system. Every ambiguity the build found went into a prompt log and back into the specification. Eight versions were needed; the last one followed the revised proposal: a shared database, so that everyone who opens the demo sees the same data, and the part-time overtime rule. The last one came from re-running the prompt in an empty folder: the rebuilt system worked, but its function signatures differed from ours, so version five supplies our test files as the contract. I hand over to Minkyung.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[Minkyung Kim · about 1.2 min]</a:t>
            </a:r>
          </a:p>
          <a:p>
            <a:r>
              <a:t>Here is the system with our demo café. Seoyeon requested a substitute for Wednesday. The system asked the three co-workers who are free at that time, all at once. Minho does not have to look for it: his Home screen shows the request first, together with what accepting means for him — sixteen to twenty-one hours this week, holiday allowance unchanged. One tap accepts. When Doyun tries a moment later, he is told Minho was faster.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[Minkyung Kim · about 1.2 min]</a:t>
            </a:r>
          </a:p>
          <a:p>
            <a:r>
              <a:t>The owner opens the app and sees one thing to handle today. The card states the effect on both workers. Minho's scheduled hours rise from sixteen to twenty-one, but his contract hours stay sixteen, so he keeps the holiday allowance of three point two hours, which is 33,024 won. After approval the board shows the handover in amber.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[Minkyung Kim · about 0.9 min]</a:t>
            </a:r>
          </a:p>
          <a:p>
            <a:r>
              <a:t>On the first day of each month the system prepares last month's payroll as a draft and tells the owner. March to August are already confirmed from the employees' contracts. Doyun's hourly wage is below the 2026 minimum wage, so the row is flagged and the month cannot be confirmed until the owner acknowledges the warning.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[Minkyung Kim · about 1.0 min]</a:t>
            </a:r>
          </a:p>
          <a:p>
            <a:r>
              <a:t>All 125 automated tests pass. They include boundary values such as fourteen point nine nine versus fifteen hours, the forty-hour cap, both attendance policies, the part-time limit, and the concurrent acceptance — also between two browsers on the shared database. The traceability matrix in the report links every functional requirement to its use case, screen, function and tests.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[Minkyung Kim · about 1.0 min]</a:t>
            </a:r>
          </a:p>
          <a:p>
            <a:r>
              <a:t>To sum up: the owner no longer contacts workers one by one, candidates answer in two clicks, and every swap updates both workers' hours and pay eligibility. Everyone who opens the demo now works on the same shared data. The main limit is that there is no real login: anyone can act as any demo account. The next steps would be login with ownership of each row and a field test in the café. Thank you.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C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00" y="2300000"/>
            <a:ext cx="900000" cy="9000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00" y="2500000"/>
            <a:ext cx="10912000" cy="1200000"/>
          </a:xfrm>
          <a:prstGeom prst="rect">
            <a:avLst/>
          </a:prstGeom>
          <a:noFill/>
        </p:spPr>
        <p:txBody>
          <a:bodyPr wrap="square">
            <a:spAutoFit/>
          </a:bodyPr>
          <a:lstStyle/>
          <a:p>
            <a:pPr algn="l">
              <a:spcAft>
                <a:spcPts val="3000"/>
              </a:spcAft>
            </a:pPr>
            <a:r>
              <a:rPr sz="6000" b="1">
                <a:solidFill>
                  <a:srgbClr val="FFFFFF"/>
                </a:solidFill>
                <a:latin typeface="Arial"/>
              </a:rPr>
              <a:t>ShiftSwap</a:t>
            </a:r>
          </a:p>
        </p:txBody>
      </p:sp>
      <p:sp>
        <p:nvSpPr>
          <p:cNvPr id="5" name="TextBox 4"/>
          <p:cNvSpPr txBox="1"/>
          <p:nvPr/>
        </p:nvSpPr>
        <p:spPr>
          <a:xfrm>
            <a:off x="640000" y="3500000"/>
            <a:ext cx="9000000" cy="900000"/>
          </a:xfrm>
          <a:prstGeom prst="rect">
            <a:avLst/>
          </a:prstGeom>
          <a:noFill/>
        </p:spPr>
        <p:txBody>
          <a:bodyPr wrap="square">
            <a:spAutoFit/>
          </a:bodyPr>
          <a:lstStyle/>
          <a:p>
            <a:pPr algn="l">
              <a:spcAft>
                <a:spcPts val="1100"/>
              </a:spcAft>
            </a:pPr>
            <a:r>
              <a:rPr sz="2200" b="0">
                <a:solidFill>
                  <a:srgbClr val="D6DBE5"/>
                </a:solidFill>
                <a:latin typeface="Arial"/>
              </a:rPr>
              <a:t>A shift schedule and substitute management system for small part-time workplaces</a:t>
            </a:r>
          </a:p>
        </p:txBody>
      </p:sp>
      <p:sp>
        <p:nvSpPr>
          <p:cNvPr id="6" name="TextBox 5"/>
          <p:cNvSpPr txBox="1"/>
          <p:nvPr/>
        </p:nvSpPr>
        <p:spPr>
          <a:xfrm>
            <a:off x="640000" y="5000000"/>
            <a:ext cx="10912000" cy="900000"/>
          </a:xfrm>
          <a:prstGeom prst="rect">
            <a:avLst/>
          </a:prstGeom>
          <a:noFill/>
        </p:spPr>
        <p:txBody>
          <a:bodyPr wrap="square">
            <a:spAutoFit/>
          </a:bodyPr>
          <a:lstStyle/>
          <a:p>
            <a:pPr algn="l">
              <a:spcAft>
                <a:spcPts val="700"/>
              </a:spcAft>
            </a:pPr>
            <a:r>
              <a:rPr sz="1400" b="0">
                <a:solidFill>
                  <a:srgbClr val="B9C0CE"/>
                </a:solidFill>
                <a:latin typeface="Arial"/>
              </a:rPr>
              <a:t>Team 7 · Software Engineering, Fall 2026 · SeoulTech</a:t>
            </a:r>
          </a:p>
          <a:p>
            <a:pPr algn="l">
              <a:spcAft>
                <a:spcPts val="700"/>
              </a:spcAft>
            </a:pPr>
            <a:r>
              <a:rPr sz="1400" b="0">
                <a:solidFill>
                  <a:srgbClr val="B9C0CE"/>
                </a:solidFill>
                <a:latin typeface="Arial"/>
              </a:rPr>
              <a:t>Hyewon Kim · Hyoungdo Kim · Minkyung Kim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0000" cy="6858000"/>
          </a:xfrm>
          <a:prstGeom prst="rect">
            <a:avLst/>
          </a:prstGeom>
          <a:solidFill>
            <a:srgbClr val="2B5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00" y="430000"/>
            <a:ext cx="10912000" cy="700000"/>
          </a:xfrm>
          <a:prstGeom prst="rect">
            <a:avLst/>
          </a:prstGeom>
          <a:noFill/>
        </p:spPr>
        <p:txBody>
          <a:bodyPr wrap="square">
            <a:spAutoFit/>
          </a:bodyPr>
          <a:lstStyle/>
          <a:p>
            <a:pPr algn="l">
              <a:spcAft>
                <a:spcPts val="1500"/>
              </a:spcAft>
            </a:pPr>
            <a:r>
              <a:rPr sz="3000" b="1">
                <a:solidFill>
                  <a:srgbClr val="1C2230"/>
                </a:solidFill>
                <a:latin typeface="Arial"/>
              </a:rPr>
              <a:t>One exam, five phone calls</a:t>
            </a:r>
          </a:p>
        </p:txBody>
      </p:sp>
      <p:sp>
        <p:nvSpPr>
          <p:cNvPr id="4" name="TextBox 3"/>
          <p:cNvSpPr txBox="1"/>
          <p:nvPr/>
        </p:nvSpPr>
        <p:spPr>
          <a:xfrm>
            <a:off x="640000" y="6338000"/>
            <a:ext cx="10912000" cy="300000"/>
          </a:xfrm>
          <a:prstGeom prst="rect">
            <a:avLst/>
          </a:prstGeom>
          <a:noFill/>
        </p:spPr>
        <p:txBody>
          <a:bodyPr wrap="square">
            <a:spAutoFit/>
          </a:bodyPr>
          <a:lstStyle/>
          <a:p>
            <a:pPr algn="l">
              <a:spcAft>
                <a:spcPts val="550"/>
              </a:spcAft>
            </a:pPr>
            <a:r>
              <a:rPr sz="1100" b="0">
                <a:solidFill>
                  <a:srgbClr val="4A5163"/>
                </a:solidFill>
                <a:latin typeface="Arial"/>
              </a:rPr>
              <a:t>2 / 16   ·   Hyewon Kim</a:t>
            </a:r>
          </a:p>
        </p:txBody>
      </p:sp>
      <p:sp>
        <p:nvSpPr>
          <p:cNvPr id="5" name="TextBox 4"/>
          <p:cNvSpPr txBox="1"/>
          <p:nvPr/>
        </p:nvSpPr>
        <p:spPr>
          <a:xfrm>
            <a:off x="640000" y="1450000"/>
            <a:ext cx="10400000" cy="4000000"/>
          </a:xfrm>
          <a:prstGeom prst="rect">
            <a:avLst/>
          </a:prstGeom>
          <a:noFill/>
        </p:spPr>
        <p:txBody>
          <a:bodyPr wrap="square">
            <a:spAutoFit/>
          </a:bodyPr>
          <a:lstStyle/>
          <a:p>
            <a:pPr algn="l">
              <a:spcAft>
                <a:spcPts val="1300"/>
              </a:spcAft>
            </a:pPr>
            <a:r>
              <a:rPr sz="2600" b="0">
                <a:solidFill>
                  <a:srgbClr val="1C2230"/>
                </a:solidFill>
                <a:latin typeface="Arial"/>
              </a:rPr>
              <a:t>Wednesday 18:00–23:00 — Seoyeon has a midterm exam.</a:t>
            </a:r>
          </a:p>
          <a:p>
            <a:pPr algn="l">
              <a:spcAft>
                <a:spcPts val="1300"/>
              </a:spcAft>
            </a:pPr>
            <a:r>
              <a:rPr sz="2600" b="0">
                <a:solidFill>
                  <a:srgbClr val="1C2230"/>
                </a:solidFill>
                <a:latin typeface="Arial"/>
              </a:rPr>
              <a:t>The owner calls co-workers one by one until someone says yes.</a:t>
            </a:r>
          </a:p>
          <a:p>
            <a:pPr algn="l">
              <a:spcAft>
                <a:spcPts val="1300"/>
              </a:spcAft>
            </a:pPr>
            <a:r>
              <a:rPr sz="2600" b="0">
                <a:solidFill>
                  <a:srgbClr val="1C2230"/>
                </a:solidFill>
                <a:latin typeface="Arial"/>
              </a:rPr>
              <a:t>Then edits the spreadsheet, and later re-checks two workers' weekly hours for holiday allowance.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0000" cy="6858000"/>
          </a:xfrm>
          <a:prstGeom prst="rect">
            <a:avLst/>
          </a:prstGeom>
          <a:solidFill>
            <a:srgbClr val="2B5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00" y="430000"/>
            <a:ext cx="10912000" cy="700000"/>
          </a:xfrm>
          <a:prstGeom prst="rect">
            <a:avLst/>
          </a:prstGeom>
          <a:noFill/>
        </p:spPr>
        <p:txBody>
          <a:bodyPr wrap="square">
            <a:spAutoFit/>
          </a:bodyPr>
          <a:lstStyle/>
          <a:p>
            <a:pPr algn="l">
              <a:spcAft>
                <a:spcPts val="1500"/>
              </a:spcAft>
            </a:pPr>
            <a:r>
              <a:rPr sz="3000" b="1">
                <a:solidFill>
                  <a:srgbClr val="1C2230"/>
                </a:solidFill>
                <a:latin typeface="Arial"/>
              </a:rPr>
              <a:t>Three problems</a:t>
            </a:r>
          </a:p>
        </p:txBody>
      </p:sp>
      <p:sp>
        <p:nvSpPr>
          <p:cNvPr id="4" name="TextBox 3"/>
          <p:cNvSpPr txBox="1"/>
          <p:nvPr/>
        </p:nvSpPr>
        <p:spPr>
          <a:xfrm>
            <a:off x="640000" y="6338000"/>
            <a:ext cx="10912000" cy="300000"/>
          </a:xfrm>
          <a:prstGeom prst="rect">
            <a:avLst/>
          </a:prstGeom>
          <a:noFill/>
        </p:spPr>
        <p:txBody>
          <a:bodyPr wrap="square">
            <a:spAutoFit/>
          </a:bodyPr>
          <a:lstStyle/>
          <a:p>
            <a:pPr algn="l">
              <a:spcAft>
                <a:spcPts val="550"/>
              </a:spcAft>
            </a:pPr>
            <a:r>
              <a:rPr sz="1100" b="0">
                <a:solidFill>
                  <a:srgbClr val="4A5163"/>
                </a:solidFill>
                <a:latin typeface="Arial"/>
              </a:rPr>
              <a:t>3 / 16   ·   Hyewon Kim</a:t>
            </a:r>
          </a:p>
        </p:txBody>
      </p:sp>
      <p:sp>
        <p:nvSpPr>
          <p:cNvPr id="5" name="Rectangle 4"/>
          <p:cNvSpPr/>
          <p:nvPr/>
        </p:nvSpPr>
        <p:spPr>
          <a:xfrm>
            <a:off x="640000" y="1450000"/>
            <a:ext cx="3504000" cy="3800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0000" y="1600000"/>
            <a:ext cx="3104000" cy="500000"/>
          </a:xfrm>
          <a:prstGeom prst="rect">
            <a:avLst/>
          </a:prstGeom>
          <a:noFill/>
        </p:spPr>
        <p:txBody>
          <a:bodyPr wrap="square">
            <a:spAutoFit/>
          </a:bodyPr>
          <a:lstStyle/>
          <a:p>
            <a:pPr algn="l">
              <a:spcAft>
                <a:spcPts val="800"/>
              </a:spcAft>
            </a:pPr>
            <a:r>
              <a:rPr sz="1600" b="1">
                <a:solidFill>
                  <a:srgbClr val="2B5BD7"/>
                </a:solidFill>
                <a:latin typeface="Courier New"/>
              </a:rPr>
              <a:t>P1</a:t>
            </a:r>
          </a:p>
        </p:txBody>
      </p:sp>
      <p:sp>
        <p:nvSpPr>
          <p:cNvPr id="7" name="TextBox 6"/>
          <p:cNvSpPr txBox="1"/>
          <p:nvPr/>
        </p:nvSpPr>
        <p:spPr>
          <a:xfrm>
            <a:off x="840000" y="2100000"/>
            <a:ext cx="3104000" cy="700000"/>
          </a:xfrm>
          <a:prstGeom prst="rect">
            <a:avLst/>
          </a:prstGeom>
          <a:noFill/>
        </p:spPr>
        <p:txBody>
          <a:bodyPr wrap="square">
            <a:spAutoFit/>
          </a:bodyPr>
          <a:lstStyle/>
          <a:p>
            <a:pPr algn="l">
              <a:spcAft>
                <a:spcPts val="1100"/>
              </a:spcAft>
            </a:pPr>
            <a:r>
              <a:rPr sz="2200" b="1">
                <a:solidFill>
                  <a:srgbClr val="1C2230"/>
                </a:solidFill>
                <a:latin typeface="Arial"/>
              </a:rPr>
              <a:t>Finding a substitute</a:t>
            </a:r>
          </a:p>
        </p:txBody>
      </p:sp>
      <p:sp>
        <p:nvSpPr>
          <p:cNvPr id="8" name="TextBox 7"/>
          <p:cNvSpPr txBox="1"/>
          <p:nvPr/>
        </p:nvSpPr>
        <p:spPr>
          <a:xfrm>
            <a:off x="840000" y="2950000"/>
            <a:ext cx="3104000" cy="2200000"/>
          </a:xfrm>
          <a:prstGeom prst="rect">
            <a:avLst/>
          </a:prstGeom>
          <a:noFill/>
        </p:spPr>
        <p:txBody>
          <a:bodyPr wrap="square">
            <a:spAutoFit/>
          </a:bodyPr>
          <a:lstStyle/>
          <a:p>
            <a:pPr algn="l">
              <a:spcAft>
                <a:spcPts val="800"/>
              </a:spcAft>
            </a:pPr>
            <a:r>
              <a:rPr sz="1600" b="0">
                <a:solidFill>
                  <a:srgbClr val="4A5163"/>
                </a:solidFill>
                <a:latin typeface="Arial"/>
              </a:rPr>
              <a:t>Repeated one-to-one contacts for every request (3–5 in the reference store).</a:t>
            </a:r>
          </a:p>
        </p:txBody>
      </p:sp>
      <p:sp>
        <p:nvSpPr>
          <p:cNvPr id="9" name="Rectangle 8"/>
          <p:cNvSpPr/>
          <p:nvPr/>
        </p:nvSpPr>
        <p:spPr>
          <a:xfrm>
            <a:off x="4344000" y="1450000"/>
            <a:ext cx="3504000" cy="3800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000" y="1600000"/>
            <a:ext cx="3104000" cy="500000"/>
          </a:xfrm>
          <a:prstGeom prst="rect">
            <a:avLst/>
          </a:prstGeom>
          <a:noFill/>
        </p:spPr>
        <p:txBody>
          <a:bodyPr wrap="square">
            <a:spAutoFit/>
          </a:bodyPr>
          <a:lstStyle/>
          <a:p>
            <a:pPr algn="l">
              <a:spcAft>
                <a:spcPts val="800"/>
              </a:spcAft>
            </a:pPr>
            <a:r>
              <a:rPr sz="1600" b="1">
                <a:solidFill>
                  <a:srgbClr val="2B5BD7"/>
                </a:solidFill>
                <a:latin typeface="Courier New"/>
              </a:rPr>
              <a:t>P2</a:t>
            </a:r>
          </a:p>
        </p:txBody>
      </p:sp>
      <p:sp>
        <p:nvSpPr>
          <p:cNvPr id="11" name="TextBox 10"/>
          <p:cNvSpPr txBox="1"/>
          <p:nvPr/>
        </p:nvSpPr>
        <p:spPr>
          <a:xfrm>
            <a:off x="4544000" y="2100000"/>
            <a:ext cx="3104000" cy="700000"/>
          </a:xfrm>
          <a:prstGeom prst="rect">
            <a:avLst/>
          </a:prstGeom>
          <a:noFill/>
        </p:spPr>
        <p:txBody>
          <a:bodyPr wrap="square">
            <a:spAutoFit/>
          </a:bodyPr>
          <a:lstStyle/>
          <a:p>
            <a:pPr algn="l">
              <a:spcAft>
                <a:spcPts val="1100"/>
              </a:spcAft>
            </a:pPr>
            <a:r>
              <a:rPr sz="2200" b="1">
                <a:solidFill>
                  <a:srgbClr val="1C2230"/>
                </a:solidFill>
                <a:latin typeface="Arial"/>
              </a:rPr>
              <a:t>Keeping records right</a:t>
            </a:r>
          </a:p>
        </p:txBody>
      </p:sp>
      <p:sp>
        <p:nvSpPr>
          <p:cNvPr id="12" name="TextBox 11"/>
          <p:cNvSpPr txBox="1"/>
          <p:nvPr/>
        </p:nvSpPr>
        <p:spPr>
          <a:xfrm>
            <a:off x="4544000" y="2950000"/>
            <a:ext cx="3104000" cy="2200000"/>
          </a:xfrm>
          <a:prstGeom prst="rect">
            <a:avLst/>
          </a:prstGeom>
          <a:noFill/>
        </p:spPr>
        <p:txBody>
          <a:bodyPr wrap="square">
            <a:spAutoFit/>
          </a:bodyPr>
          <a:lstStyle/>
          <a:p>
            <a:pPr algn="l">
              <a:spcAft>
                <a:spcPts val="800"/>
              </a:spcAft>
            </a:pPr>
            <a:r>
              <a:rPr sz="1600" b="0">
                <a:solidFill>
                  <a:srgbClr val="4A5163"/>
                </a:solidFill>
                <a:latin typeface="Arial"/>
              </a:rPr>
              <a:t>Every swap changes the schedule and weekly hours of two workers; all recalculation is manual.</a:t>
            </a:r>
          </a:p>
        </p:txBody>
      </p:sp>
      <p:sp>
        <p:nvSpPr>
          <p:cNvPr id="13" name="Rectangle 12"/>
          <p:cNvSpPr/>
          <p:nvPr/>
        </p:nvSpPr>
        <p:spPr>
          <a:xfrm>
            <a:off x="8048000" y="1450000"/>
            <a:ext cx="3504000" cy="3800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8000" y="1600000"/>
            <a:ext cx="3104000" cy="500000"/>
          </a:xfrm>
          <a:prstGeom prst="rect">
            <a:avLst/>
          </a:prstGeom>
          <a:noFill/>
        </p:spPr>
        <p:txBody>
          <a:bodyPr wrap="square">
            <a:spAutoFit/>
          </a:bodyPr>
          <a:lstStyle/>
          <a:p>
            <a:pPr algn="l">
              <a:spcAft>
                <a:spcPts val="800"/>
              </a:spcAft>
            </a:pPr>
            <a:r>
              <a:rPr sz="1600" b="1">
                <a:solidFill>
                  <a:srgbClr val="2B5BD7"/>
                </a:solidFill>
                <a:latin typeface="Courier New"/>
              </a:rPr>
              <a:t>P3</a:t>
            </a:r>
          </a:p>
        </p:txBody>
      </p:sp>
      <p:sp>
        <p:nvSpPr>
          <p:cNvPr id="15" name="TextBox 14"/>
          <p:cNvSpPr txBox="1"/>
          <p:nvPr/>
        </p:nvSpPr>
        <p:spPr>
          <a:xfrm>
            <a:off x="8248000" y="2100000"/>
            <a:ext cx="3104000" cy="700000"/>
          </a:xfrm>
          <a:prstGeom prst="rect">
            <a:avLst/>
          </a:prstGeom>
          <a:noFill/>
        </p:spPr>
        <p:txBody>
          <a:bodyPr wrap="square">
            <a:spAutoFit/>
          </a:bodyPr>
          <a:lstStyle/>
          <a:p>
            <a:pPr algn="l">
              <a:spcAft>
                <a:spcPts val="1100"/>
              </a:spcAft>
            </a:pPr>
            <a:r>
              <a:rPr sz="2200" b="1">
                <a:solidFill>
                  <a:srgbClr val="1C2230"/>
                </a:solidFill>
                <a:latin typeface="Arial"/>
              </a:rPr>
              <a:t>Applying pay law</a:t>
            </a:r>
          </a:p>
        </p:txBody>
      </p:sp>
      <p:sp>
        <p:nvSpPr>
          <p:cNvPr id="16" name="TextBox 15"/>
          <p:cNvSpPr txBox="1"/>
          <p:nvPr/>
        </p:nvSpPr>
        <p:spPr>
          <a:xfrm>
            <a:off x="8248000" y="2950000"/>
            <a:ext cx="3104000" cy="2200000"/>
          </a:xfrm>
          <a:prstGeom prst="rect">
            <a:avLst/>
          </a:prstGeom>
          <a:noFill/>
        </p:spPr>
        <p:txBody>
          <a:bodyPr wrap="square">
            <a:spAutoFit/>
          </a:bodyPr>
          <a:lstStyle/>
          <a:p>
            <a:pPr algn="l">
              <a:spcAft>
                <a:spcPts val="800"/>
              </a:spcAft>
            </a:pPr>
            <a:r>
              <a:rPr sz="1600" b="0">
                <a:solidFill>
                  <a:srgbClr val="4A5163"/>
                </a:solidFill>
                <a:latin typeface="Arial"/>
              </a:rPr>
              <a:t>Minimum wage, 15-hour holiday-allowance threshold, 5-employee premium rule and probation are applied from memory.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0000" cy="6858000"/>
          </a:xfrm>
          <a:prstGeom prst="rect">
            <a:avLst/>
          </a:prstGeom>
          <a:solidFill>
            <a:srgbClr val="2B5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00" y="430000"/>
            <a:ext cx="10912000" cy="700000"/>
          </a:xfrm>
          <a:prstGeom prst="rect">
            <a:avLst/>
          </a:prstGeom>
          <a:noFill/>
        </p:spPr>
        <p:txBody>
          <a:bodyPr wrap="square">
            <a:spAutoFit/>
          </a:bodyPr>
          <a:lstStyle/>
          <a:p>
            <a:pPr algn="l">
              <a:spcAft>
                <a:spcPts val="1500"/>
              </a:spcAft>
            </a:pPr>
            <a:r>
              <a:rPr sz="3000" b="1">
                <a:solidFill>
                  <a:srgbClr val="1C2230"/>
                </a:solidFill>
                <a:latin typeface="Arial"/>
              </a:rPr>
              <a:t>Requirements in numbers</a:t>
            </a:r>
          </a:p>
        </p:txBody>
      </p:sp>
      <p:sp>
        <p:nvSpPr>
          <p:cNvPr id="4" name="TextBox 3"/>
          <p:cNvSpPr txBox="1"/>
          <p:nvPr/>
        </p:nvSpPr>
        <p:spPr>
          <a:xfrm>
            <a:off x="640000" y="6338000"/>
            <a:ext cx="10912000" cy="300000"/>
          </a:xfrm>
          <a:prstGeom prst="rect">
            <a:avLst/>
          </a:prstGeom>
          <a:noFill/>
        </p:spPr>
        <p:txBody>
          <a:bodyPr wrap="square">
            <a:spAutoFit/>
          </a:bodyPr>
          <a:lstStyle/>
          <a:p>
            <a:pPr algn="l">
              <a:spcAft>
                <a:spcPts val="550"/>
              </a:spcAft>
            </a:pPr>
            <a:r>
              <a:rPr sz="1100" b="0">
                <a:solidFill>
                  <a:srgbClr val="4A5163"/>
                </a:solidFill>
                <a:latin typeface="Arial"/>
              </a:rPr>
              <a:t>4 / 16   ·   Hyewon Kim</a:t>
            </a:r>
          </a:p>
        </p:txBody>
      </p:sp>
      <p:sp>
        <p:nvSpPr>
          <p:cNvPr id="5" name="TextBox 4"/>
          <p:cNvSpPr txBox="1"/>
          <p:nvPr/>
        </p:nvSpPr>
        <p:spPr>
          <a:xfrm>
            <a:off x="640000" y="1450000"/>
            <a:ext cx="3437333" cy="900000"/>
          </a:xfrm>
          <a:prstGeom prst="rect">
            <a:avLst/>
          </a:prstGeom>
          <a:noFill/>
        </p:spPr>
        <p:txBody>
          <a:bodyPr wrap="square">
            <a:spAutoFit/>
          </a:bodyPr>
          <a:lstStyle/>
          <a:p>
            <a:pPr algn="l">
              <a:spcAft>
                <a:spcPts val="2400"/>
              </a:spcAft>
            </a:pPr>
            <a:r>
              <a:rPr sz="4800" b="1">
                <a:solidFill>
                  <a:srgbClr val="2B5BD7"/>
                </a:solidFill>
                <a:latin typeface="Arial"/>
              </a:rPr>
              <a:t>3</a:t>
            </a:r>
          </a:p>
        </p:txBody>
      </p:sp>
      <p:sp>
        <p:nvSpPr>
          <p:cNvPr id="6" name="TextBox 5"/>
          <p:cNvSpPr txBox="1"/>
          <p:nvPr/>
        </p:nvSpPr>
        <p:spPr>
          <a:xfrm>
            <a:off x="640000" y="2350000"/>
            <a:ext cx="3437333" cy="400000"/>
          </a:xfrm>
          <a:prstGeom prst="rect">
            <a:avLst/>
          </a:prstGeom>
          <a:noFill/>
        </p:spPr>
        <p:txBody>
          <a:bodyPr wrap="square">
            <a:spAutoFit/>
          </a:bodyPr>
          <a:lstStyle/>
          <a:p>
            <a:pPr algn="l">
              <a:spcAft>
                <a:spcPts val="900"/>
              </a:spcAft>
            </a:pPr>
            <a:r>
              <a:rPr sz="1800" b="1">
                <a:solidFill>
                  <a:srgbClr val="1C2230"/>
                </a:solidFill>
                <a:latin typeface="Arial"/>
              </a:rPr>
              <a:t>actors</a:t>
            </a:r>
          </a:p>
        </p:txBody>
      </p:sp>
      <p:sp>
        <p:nvSpPr>
          <p:cNvPr id="7" name="TextBox 6"/>
          <p:cNvSpPr txBox="1"/>
          <p:nvPr/>
        </p:nvSpPr>
        <p:spPr>
          <a:xfrm>
            <a:off x="640000" y="2750000"/>
            <a:ext cx="3437333" cy="500000"/>
          </a:xfrm>
          <a:prstGeom prst="rect">
            <a:avLst/>
          </a:prstGeom>
          <a:noFill/>
        </p:spPr>
        <p:txBody>
          <a:bodyPr wrap="square">
            <a:spAutoFit/>
          </a:bodyPr>
          <a:lstStyle/>
          <a:p>
            <a:pPr algn="l">
              <a:spcAft>
                <a:spcPts val="650"/>
              </a:spcAft>
            </a:pPr>
            <a:r>
              <a:rPr sz="1300" b="0">
                <a:solidFill>
                  <a:srgbClr val="4A5163"/>
                </a:solidFill>
                <a:latin typeface="Arial"/>
              </a:rPr>
              <a:t>Worker, Owner, System Clock</a:t>
            </a:r>
          </a:p>
        </p:txBody>
      </p:sp>
      <p:sp>
        <p:nvSpPr>
          <p:cNvPr id="8" name="TextBox 7"/>
          <p:cNvSpPr txBox="1"/>
          <p:nvPr/>
        </p:nvSpPr>
        <p:spPr>
          <a:xfrm>
            <a:off x="4277333" y="1450000"/>
            <a:ext cx="3437333" cy="900000"/>
          </a:xfrm>
          <a:prstGeom prst="rect">
            <a:avLst/>
          </a:prstGeom>
          <a:noFill/>
        </p:spPr>
        <p:txBody>
          <a:bodyPr wrap="square">
            <a:spAutoFit/>
          </a:bodyPr>
          <a:lstStyle/>
          <a:p>
            <a:pPr algn="l">
              <a:spcAft>
                <a:spcPts val="2400"/>
              </a:spcAft>
            </a:pPr>
            <a:r>
              <a:rPr sz="4800" b="1">
                <a:solidFill>
                  <a:srgbClr val="2B5BD7"/>
                </a:solidFill>
                <a:latin typeface="Arial"/>
              </a:rPr>
              <a:t>13</a:t>
            </a:r>
          </a:p>
        </p:txBody>
      </p:sp>
      <p:sp>
        <p:nvSpPr>
          <p:cNvPr id="9" name="TextBox 8"/>
          <p:cNvSpPr txBox="1"/>
          <p:nvPr/>
        </p:nvSpPr>
        <p:spPr>
          <a:xfrm>
            <a:off x="4277333" y="2350000"/>
            <a:ext cx="3437333" cy="400000"/>
          </a:xfrm>
          <a:prstGeom prst="rect">
            <a:avLst/>
          </a:prstGeom>
          <a:noFill/>
        </p:spPr>
        <p:txBody>
          <a:bodyPr wrap="square">
            <a:spAutoFit/>
          </a:bodyPr>
          <a:lstStyle/>
          <a:p>
            <a:pPr algn="l">
              <a:spcAft>
                <a:spcPts val="900"/>
              </a:spcAft>
            </a:pPr>
            <a:r>
              <a:rPr sz="1800" b="1">
                <a:solidFill>
                  <a:srgbClr val="1C2230"/>
                </a:solidFill>
                <a:latin typeface="Arial"/>
              </a:rPr>
              <a:t>use cases</a:t>
            </a:r>
          </a:p>
        </p:txBody>
      </p:sp>
      <p:sp>
        <p:nvSpPr>
          <p:cNvPr id="10" name="TextBox 9"/>
          <p:cNvSpPr txBox="1"/>
          <p:nvPr/>
        </p:nvSpPr>
        <p:spPr>
          <a:xfrm>
            <a:off x="4277333" y="2750000"/>
            <a:ext cx="3437333" cy="500000"/>
          </a:xfrm>
          <a:prstGeom prst="rect">
            <a:avLst/>
          </a:prstGeom>
          <a:noFill/>
        </p:spPr>
        <p:txBody>
          <a:bodyPr wrap="square">
            <a:spAutoFit/>
          </a:bodyPr>
          <a:lstStyle/>
          <a:p>
            <a:pPr algn="l">
              <a:spcAft>
                <a:spcPts val="650"/>
              </a:spcAft>
            </a:pPr>
            <a:r>
              <a:rPr sz="1300" b="0">
                <a:solidFill>
                  <a:srgbClr val="4A5163"/>
                </a:solidFill>
                <a:latin typeface="Arial"/>
              </a:rPr>
              <a:t>UC-14 added, UC-02 retired</a:t>
            </a:r>
          </a:p>
        </p:txBody>
      </p:sp>
      <p:sp>
        <p:nvSpPr>
          <p:cNvPr id="11" name="TextBox 10"/>
          <p:cNvSpPr txBox="1"/>
          <p:nvPr/>
        </p:nvSpPr>
        <p:spPr>
          <a:xfrm>
            <a:off x="7914666" y="1450000"/>
            <a:ext cx="3437333" cy="900000"/>
          </a:xfrm>
          <a:prstGeom prst="rect">
            <a:avLst/>
          </a:prstGeom>
          <a:noFill/>
        </p:spPr>
        <p:txBody>
          <a:bodyPr wrap="square">
            <a:spAutoFit/>
          </a:bodyPr>
          <a:lstStyle/>
          <a:p>
            <a:pPr algn="l">
              <a:spcAft>
                <a:spcPts val="2400"/>
              </a:spcAft>
            </a:pPr>
            <a:r>
              <a:rPr sz="4800" b="1">
                <a:solidFill>
                  <a:srgbClr val="2B5BD7"/>
                </a:solidFill>
                <a:latin typeface="Arial"/>
              </a:rPr>
              <a:t>23</a:t>
            </a:r>
          </a:p>
        </p:txBody>
      </p:sp>
      <p:sp>
        <p:nvSpPr>
          <p:cNvPr id="12" name="TextBox 11"/>
          <p:cNvSpPr txBox="1"/>
          <p:nvPr/>
        </p:nvSpPr>
        <p:spPr>
          <a:xfrm>
            <a:off x="7914666" y="2350000"/>
            <a:ext cx="3437333" cy="400000"/>
          </a:xfrm>
          <a:prstGeom prst="rect">
            <a:avLst/>
          </a:prstGeom>
          <a:noFill/>
        </p:spPr>
        <p:txBody>
          <a:bodyPr wrap="square">
            <a:spAutoFit/>
          </a:bodyPr>
          <a:lstStyle/>
          <a:p>
            <a:pPr algn="l">
              <a:spcAft>
                <a:spcPts val="900"/>
              </a:spcAft>
            </a:pPr>
            <a:r>
              <a:rPr sz="1800" b="1">
                <a:solidFill>
                  <a:srgbClr val="1C2230"/>
                </a:solidFill>
                <a:latin typeface="Arial"/>
              </a:rPr>
              <a:t>functional req.</a:t>
            </a:r>
          </a:p>
        </p:txBody>
      </p:sp>
      <p:sp>
        <p:nvSpPr>
          <p:cNvPr id="13" name="TextBox 12"/>
          <p:cNvSpPr txBox="1"/>
          <p:nvPr/>
        </p:nvSpPr>
        <p:spPr>
          <a:xfrm>
            <a:off x="7914666" y="2750000"/>
            <a:ext cx="3437333" cy="500000"/>
          </a:xfrm>
          <a:prstGeom prst="rect">
            <a:avLst/>
          </a:prstGeom>
          <a:noFill/>
        </p:spPr>
        <p:txBody>
          <a:bodyPr wrap="square">
            <a:spAutoFit/>
          </a:bodyPr>
          <a:lstStyle/>
          <a:p>
            <a:pPr algn="l">
              <a:spcAft>
                <a:spcPts val="650"/>
              </a:spcAft>
            </a:pPr>
            <a:r>
              <a:rPr sz="1300" b="0">
                <a:solidFill>
                  <a:srgbClr val="4A5163"/>
                </a:solidFill>
                <a:latin typeface="Arial"/>
              </a:rPr>
              <a:t>FR-01 … FR-24, FR-03 retired</a:t>
            </a:r>
          </a:p>
        </p:txBody>
      </p:sp>
      <p:sp>
        <p:nvSpPr>
          <p:cNvPr id="14" name="TextBox 13"/>
          <p:cNvSpPr txBox="1"/>
          <p:nvPr/>
        </p:nvSpPr>
        <p:spPr>
          <a:xfrm>
            <a:off x="640000" y="3450000"/>
            <a:ext cx="3437333" cy="900000"/>
          </a:xfrm>
          <a:prstGeom prst="rect">
            <a:avLst/>
          </a:prstGeom>
          <a:noFill/>
        </p:spPr>
        <p:txBody>
          <a:bodyPr wrap="square">
            <a:spAutoFit/>
          </a:bodyPr>
          <a:lstStyle/>
          <a:p>
            <a:pPr algn="l">
              <a:spcAft>
                <a:spcPts val="2400"/>
              </a:spcAft>
            </a:pPr>
            <a:r>
              <a:rPr sz="4800" b="1">
                <a:solidFill>
                  <a:srgbClr val="2B5BD7"/>
                </a:solidFill>
                <a:latin typeface="Arial"/>
              </a:rPr>
              <a:t>16</a:t>
            </a:r>
          </a:p>
        </p:txBody>
      </p:sp>
      <p:sp>
        <p:nvSpPr>
          <p:cNvPr id="15" name="TextBox 14"/>
          <p:cNvSpPr txBox="1"/>
          <p:nvPr/>
        </p:nvSpPr>
        <p:spPr>
          <a:xfrm>
            <a:off x="640000" y="4350000"/>
            <a:ext cx="3437333" cy="400000"/>
          </a:xfrm>
          <a:prstGeom prst="rect">
            <a:avLst/>
          </a:prstGeom>
          <a:noFill/>
        </p:spPr>
        <p:txBody>
          <a:bodyPr wrap="square">
            <a:spAutoFit/>
          </a:bodyPr>
          <a:lstStyle/>
          <a:p>
            <a:pPr algn="l">
              <a:spcAft>
                <a:spcPts val="900"/>
              </a:spcAft>
            </a:pPr>
            <a:r>
              <a:rPr sz="1800" b="1">
                <a:solidFill>
                  <a:srgbClr val="1C2230"/>
                </a:solidFill>
                <a:latin typeface="Arial"/>
              </a:rPr>
              <a:t>non-functional req.</a:t>
            </a:r>
          </a:p>
        </p:txBody>
      </p:sp>
      <p:sp>
        <p:nvSpPr>
          <p:cNvPr id="16" name="TextBox 15"/>
          <p:cNvSpPr txBox="1"/>
          <p:nvPr/>
        </p:nvSpPr>
        <p:spPr>
          <a:xfrm>
            <a:off x="640000" y="4750000"/>
            <a:ext cx="3437333" cy="500000"/>
          </a:xfrm>
          <a:prstGeom prst="rect">
            <a:avLst/>
          </a:prstGeom>
          <a:noFill/>
        </p:spPr>
        <p:txBody>
          <a:bodyPr wrap="square">
            <a:spAutoFit/>
          </a:bodyPr>
          <a:lstStyle/>
          <a:p>
            <a:pPr algn="l">
              <a:spcAft>
                <a:spcPts val="650"/>
              </a:spcAft>
            </a:pPr>
            <a:r>
              <a:rPr sz="1300" b="0">
                <a:solidFill>
                  <a:srgbClr val="4A5163"/>
                </a:solidFill>
                <a:latin typeface="Arial"/>
              </a:rPr>
              <a:t>Product · Organisational · External</a:t>
            </a:r>
          </a:p>
        </p:txBody>
      </p:sp>
      <p:sp>
        <p:nvSpPr>
          <p:cNvPr id="17" name="TextBox 16"/>
          <p:cNvSpPr txBox="1"/>
          <p:nvPr/>
        </p:nvSpPr>
        <p:spPr>
          <a:xfrm>
            <a:off x="4277333" y="3450000"/>
            <a:ext cx="3437333" cy="900000"/>
          </a:xfrm>
          <a:prstGeom prst="rect">
            <a:avLst/>
          </a:prstGeom>
          <a:noFill/>
        </p:spPr>
        <p:txBody>
          <a:bodyPr wrap="square">
            <a:spAutoFit/>
          </a:bodyPr>
          <a:lstStyle/>
          <a:p>
            <a:pPr algn="l">
              <a:spcAft>
                <a:spcPts val="2400"/>
              </a:spcAft>
            </a:pPr>
            <a:r>
              <a:rPr sz="4800" b="1">
                <a:solidFill>
                  <a:srgbClr val="2B5BD7"/>
                </a:solidFill>
                <a:latin typeface="Arial"/>
              </a:rPr>
              <a:t>15</a:t>
            </a:r>
          </a:p>
        </p:txBody>
      </p:sp>
      <p:sp>
        <p:nvSpPr>
          <p:cNvPr id="18" name="TextBox 17"/>
          <p:cNvSpPr txBox="1"/>
          <p:nvPr/>
        </p:nvSpPr>
        <p:spPr>
          <a:xfrm>
            <a:off x="4277333" y="4350000"/>
            <a:ext cx="3437333" cy="400000"/>
          </a:xfrm>
          <a:prstGeom prst="rect">
            <a:avLst/>
          </a:prstGeom>
          <a:noFill/>
        </p:spPr>
        <p:txBody>
          <a:bodyPr wrap="square">
            <a:spAutoFit/>
          </a:bodyPr>
          <a:lstStyle/>
          <a:p>
            <a:pPr algn="l">
              <a:spcAft>
                <a:spcPts val="900"/>
              </a:spcAft>
            </a:pPr>
            <a:r>
              <a:rPr sz="1800" b="1">
                <a:solidFill>
                  <a:srgbClr val="1C2230"/>
                </a:solidFill>
                <a:latin typeface="Arial"/>
              </a:rPr>
              <a:t>business rules</a:t>
            </a:r>
          </a:p>
        </p:txBody>
      </p:sp>
      <p:sp>
        <p:nvSpPr>
          <p:cNvPr id="19" name="TextBox 18"/>
          <p:cNvSpPr txBox="1"/>
          <p:nvPr/>
        </p:nvSpPr>
        <p:spPr>
          <a:xfrm>
            <a:off x="4277333" y="4750000"/>
            <a:ext cx="3437333" cy="500000"/>
          </a:xfrm>
          <a:prstGeom prst="rect">
            <a:avLst/>
          </a:prstGeom>
          <a:noFill/>
        </p:spPr>
        <p:txBody>
          <a:bodyPr wrap="square">
            <a:spAutoFit/>
          </a:bodyPr>
          <a:lstStyle/>
          <a:p>
            <a:pPr algn="l">
              <a:spcAft>
                <a:spcPts val="650"/>
              </a:spcAft>
            </a:pPr>
            <a:r>
              <a:rPr sz="1300" b="0">
                <a:solidFill>
                  <a:srgbClr val="4A5163"/>
                </a:solidFill>
                <a:latin typeface="Arial"/>
              </a:rPr>
              <a:t>BR-01 … BR-15, each tested</a:t>
            </a:r>
          </a:p>
        </p:txBody>
      </p:sp>
      <p:sp>
        <p:nvSpPr>
          <p:cNvPr id="20" name="TextBox 19"/>
          <p:cNvSpPr txBox="1"/>
          <p:nvPr/>
        </p:nvSpPr>
        <p:spPr>
          <a:xfrm>
            <a:off x="7914666" y="3450000"/>
            <a:ext cx="3437333" cy="900000"/>
          </a:xfrm>
          <a:prstGeom prst="rect">
            <a:avLst/>
          </a:prstGeom>
          <a:noFill/>
        </p:spPr>
        <p:txBody>
          <a:bodyPr wrap="square">
            <a:spAutoFit/>
          </a:bodyPr>
          <a:lstStyle/>
          <a:p>
            <a:pPr algn="l">
              <a:spcAft>
                <a:spcPts val="2400"/>
              </a:spcAft>
            </a:pPr>
            <a:r>
              <a:rPr sz="4800" b="1">
                <a:solidFill>
                  <a:srgbClr val="2B5BD7"/>
                </a:solidFill>
                <a:latin typeface="Arial"/>
              </a:rPr>
              <a:t>11</a:t>
            </a:r>
          </a:p>
        </p:txBody>
      </p:sp>
      <p:sp>
        <p:nvSpPr>
          <p:cNvPr id="21" name="TextBox 20"/>
          <p:cNvSpPr txBox="1"/>
          <p:nvPr/>
        </p:nvSpPr>
        <p:spPr>
          <a:xfrm>
            <a:off x="7914666" y="4350000"/>
            <a:ext cx="3437333" cy="400000"/>
          </a:xfrm>
          <a:prstGeom prst="rect">
            <a:avLst/>
          </a:prstGeom>
          <a:noFill/>
        </p:spPr>
        <p:txBody>
          <a:bodyPr wrap="square">
            <a:spAutoFit/>
          </a:bodyPr>
          <a:lstStyle/>
          <a:p>
            <a:pPr algn="l">
              <a:spcAft>
                <a:spcPts val="900"/>
              </a:spcAft>
            </a:pPr>
            <a:r>
              <a:rPr sz="1800" b="1">
                <a:solidFill>
                  <a:srgbClr val="1C2230"/>
                </a:solidFill>
                <a:latin typeface="Arial"/>
              </a:rPr>
              <a:t>tables</a:t>
            </a:r>
          </a:p>
        </p:txBody>
      </p:sp>
      <p:sp>
        <p:nvSpPr>
          <p:cNvPr id="22" name="TextBox 21"/>
          <p:cNvSpPr txBox="1"/>
          <p:nvPr/>
        </p:nvSpPr>
        <p:spPr>
          <a:xfrm>
            <a:off x="7914666" y="4750000"/>
            <a:ext cx="3437333" cy="500000"/>
          </a:xfrm>
          <a:prstGeom prst="rect">
            <a:avLst/>
          </a:prstGeom>
          <a:noFill/>
        </p:spPr>
        <p:txBody>
          <a:bodyPr wrap="square">
            <a:spAutoFit/>
          </a:bodyPr>
          <a:lstStyle/>
          <a:p>
            <a:pPr algn="l">
              <a:spcAft>
                <a:spcPts val="650"/>
              </a:spcAft>
            </a:pPr>
            <a:r>
              <a:rPr sz="1300" b="0">
                <a:solidFill>
                  <a:srgbClr val="4A5163"/>
                </a:solidFill>
                <a:latin typeface="Arial"/>
              </a:rPr>
              <a:t>same schema in SQLite and PostgreSQL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0000" cy="6858000"/>
          </a:xfrm>
          <a:prstGeom prst="rect">
            <a:avLst/>
          </a:prstGeom>
          <a:solidFill>
            <a:srgbClr val="2B5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00" y="430000"/>
            <a:ext cx="10912000" cy="700000"/>
          </a:xfrm>
          <a:prstGeom prst="rect">
            <a:avLst/>
          </a:prstGeom>
          <a:noFill/>
        </p:spPr>
        <p:txBody>
          <a:bodyPr wrap="square">
            <a:spAutoFit/>
          </a:bodyPr>
          <a:lstStyle/>
          <a:p>
            <a:pPr algn="l">
              <a:spcAft>
                <a:spcPts val="1500"/>
              </a:spcAft>
            </a:pPr>
            <a:r>
              <a:rPr sz="3000" b="1">
                <a:solidFill>
                  <a:srgbClr val="1C2230"/>
                </a:solidFill>
                <a:latin typeface="Arial"/>
              </a:rPr>
              <a:t>Use cases</a:t>
            </a:r>
          </a:p>
        </p:txBody>
      </p:sp>
      <p:sp>
        <p:nvSpPr>
          <p:cNvPr id="4" name="TextBox 3"/>
          <p:cNvSpPr txBox="1"/>
          <p:nvPr/>
        </p:nvSpPr>
        <p:spPr>
          <a:xfrm>
            <a:off x="640000" y="6338000"/>
            <a:ext cx="10912000" cy="300000"/>
          </a:xfrm>
          <a:prstGeom prst="rect">
            <a:avLst/>
          </a:prstGeom>
          <a:noFill/>
        </p:spPr>
        <p:txBody>
          <a:bodyPr wrap="square">
            <a:spAutoFit/>
          </a:bodyPr>
          <a:lstStyle/>
          <a:p>
            <a:pPr algn="l">
              <a:spcAft>
                <a:spcPts val="550"/>
              </a:spcAft>
            </a:pPr>
            <a:r>
              <a:rPr sz="1100" b="0">
                <a:solidFill>
                  <a:srgbClr val="4A5163"/>
                </a:solidFill>
                <a:latin typeface="Arial"/>
              </a:rPr>
              <a:t>5 / 16   ·   Hyewon Kim</a:t>
            </a:r>
          </a:p>
        </p:txBody>
      </p:sp>
      <p:pic>
        <p:nvPicPr>
          <p:cNvPr id="5" name="Picture 4" descr="usecase-substitute.png"/>
          <p:cNvPicPr>
            <a:picLocks noChangeAspect="1"/>
          </p:cNvPicPr>
          <p:nvPr/>
        </p:nvPicPr>
        <p:blipFill>
          <a:blip r:embed="rId2"/>
          <a:stretch>
            <a:fillRect/>
          </a:stretch>
        </p:blipFill>
        <p:spPr>
          <a:xfrm>
            <a:off x="640000" y="1331734"/>
            <a:ext cx="10912000" cy="4286532"/>
          </a:xfrm>
          <a:prstGeom prst="rect">
            <a:avLst/>
          </a:prstGeom>
        </p:spPr>
      </p:pic>
      <p:sp>
        <p:nvSpPr>
          <p:cNvPr id="6" name="TextBox 5"/>
          <p:cNvSpPr txBox="1"/>
          <p:nvPr/>
        </p:nvSpPr>
        <p:spPr>
          <a:xfrm>
            <a:off x="640000" y="5750000"/>
            <a:ext cx="10912000" cy="400000"/>
          </a:xfrm>
          <a:prstGeom prst="rect">
            <a:avLst/>
          </a:prstGeom>
          <a:noFill/>
        </p:spPr>
        <p:txBody>
          <a:bodyPr wrap="square">
            <a:spAutoFit/>
          </a:bodyPr>
          <a:lstStyle/>
          <a:p>
            <a:pPr algn="l">
              <a:spcAft>
                <a:spcPts val="650"/>
              </a:spcAft>
            </a:pPr>
            <a:r>
              <a:rPr sz="1300" b="0">
                <a:solidFill>
                  <a:srgbClr val="4A5163"/>
                </a:solidFill>
                <a:latin typeface="Arial"/>
              </a:rPr>
              <a:t>Substitution use cases with «include» / «extend» (overview of all 12 in the report)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0000" cy="6858000"/>
          </a:xfrm>
          <a:prstGeom prst="rect">
            <a:avLst/>
          </a:prstGeom>
          <a:solidFill>
            <a:srgbClr val="2B5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00" y="430000"/>
            <a:ext cx="10912000" cy="700000"/>
          </a:xfrm>
          <a:prstGeom prst="rect">
            <a:avLst/>
          </a:prstGeom>
          <a:noFill/>
        </p:spPr>
        <p:txBody>
          <a:bodyPr wrap="square">
            <a:spAutoFit/>
          </a:bodyPr>
          <a:lstStyle/>
          <a:p>
            <a:pPr algn="l">
              <a:spcAft>
                <a:spcPts val="1500"/>
              </a:spcAft>
            </a:pPr>
            <a:r>
              <a:rPr sz="3000" b="1">
                <a:solidFill>
                  <a:srgbClr val="1C2230"/>
                </a:solidFill>
                <a:latin typeface="Arial"/>
              </a:rPr>
              <a:t>Pay law as testable rules</a:t>
            </a:r>
          </a:p>
        </p:txBody>
      </p:sp>
      <p:sp>
        <p:nvSpPr>
          <p:cNvPr id="4" name="TextBox 3"/>
          <p:cNvSpPr txBox="1"/>
          <p:nvPr/>
        </p:nvSpPr>
        <p:spPr>
          <a:xfrm>
            <a:off x="640000" y="6338000"/>
            <a:ext cx="10912000" cy="300000"/>
          </a:xfrm>
          <a:prstGeom prst="rect">
            <a:avLst/>
          </a:prstGeom>
          <a:noFill/>
        </p:spPr>
        <p:txBody>
          <a:bodyPr wrap="square">
            <a:spAutoFit/>
          </a:bodyPr>
          <a:lstStyle/>
          <a:p>
            <a:pPr algn="l">
              <a:spcAft>
                <a:spcPts val="550"/>
              </a:spcAft>
            </a:pPr>
            <a:r>
              <a:rPr sz="1100" b="0">
                <a:solidFill>
                  <a:srgbClr val="4A5163"/>
                </a:solidFill>
                <a:latin typeface="Arial"/>
              </a:rPr>
              <a:t>6 / 16   ·   Hyewon Kim</a:t>
            </a:r>
          </a:p>
        </p:txBody>
      </p:sp>
      <p:graphicFrame>
        <p:nvGraphicFramePr>
          <p:cNvPr id="5" name="Table 4"/>
          <p:cNvGraphicFramePr>
            <a:graphicFrameLocks noGrp="1"/>
          </p:cNvGraphicFramePr>
          <p:nvPr/>
        </p:nvGraphicFramePr>
        <p:xfrm>
          <a:off x="640000" y="1450000"/>
          <a:ext cx="10912000" cy="3500000"/>
        </p:xfrm>
        <a:graphic>
          <a:graphicData uri="http://schemas.openxmlformats.org/drawingml/2006/table">
            <a:tbl>
              <a:tblPr firstRow="1" bandRow="1">
                <a:tableStyleId>{5C22544A-7EE6-4342-B048-85BDC9FD1C3A}</a:tableStyleId>
              </a:tblPr>
              <a:tblGrid>
                <a:gridCol w="1309440"/>
                <a:gridCol w="5237760"/>
                <a:gridCol w="4364800"/>
              </a:tblGrid>
              <a:tr h="700000">
                <a:tc>
                  <a:txBody>
                    <a:bodyPr/>
                    <a:lstStyle/>
                    <a:p>
                      <a:r>
                        <a:rPr sz="1400" b="1">
                          <a:solidFill>
                            <a:srgbClr val="1C2230"/>
                          </a:solidFill>
                          <a:latin typeface="Courier New"/>
                        </a:rPr>
                        <a:t>BR-06</a:t>
                      </a:r>
                    </a:p>
                  </a:txBody>
                  <a:tcPr>
                    <a:solidFill>
                      <a:srgbClr val="F4F6F9"/>
                    </a:solidFill>
                  </a:tcPr>
                </a:tc>
                <a:tc>
                  <a:txBody>
                    <a:bodyPr/>
                    <a:lstStyle/>
                    <a:p>
                      <a:r>
                        <a:rPr sz="1500" b="0">
                          <a:solidFill>
                            <a:srgbClr val="1C2230"/>
                          </a:solidFill>
                          <a:latin typeface="Arial"/>
                        </a:rPr>
                        <a:t>Holiday allowance only with ≥ 15 contract hours a week and no absence</a:t>
                      </a:r>
                    </a:p>
                  </a:txBody>
                  <a:tcPr>
                    <a:solidFill>
                      <a:srgbClr val="FFFFFF"/>
                    </a:solidFill>
                  </a:tcPr>
                </a:tc>
                <a:tc>
                  <a:txBody>
                    <a:bodyPr/>
                    <a:lstStyle/>
                    <a:p>
                      <a:r>
                        <a:rPr sz="1500" b="0">
                          <a:solidFill>
                            <a:srgbClr val="1C2230"/>
                          </a:solidFill>
                          <a:latin typeface="Arial"/>
                        </a:rPr>
                        <a:t>Labor Standards Act Art. 18 ③, 55</a:t>
                      </a:r>
                    </a:p>
                  </a:txBody>
                  <a:tcPr>
                    <a:solidFill>
                      <a:srgbClr val="FFFFFF"/>
                    </a:solidFill>
                  </a:tcPr>
                </a:tc>
              </a:tr>
              <a:tr h="700000">
                <a:tc>
                  <a:txBody>
                    <a:bodyPr/>
                    <a:lstStyle/>
                    <a:p>
                      <a:r>
                        <a:rPr sz="1400" b="1">
                          <a:solidFill>
                            <a:srgbClr val="1C2230"/>
                          </a:solidFill>
                          <a:latin typeface="Courier New"/>
                        </a:rPr>
                        <a:t>BR-07</a:t>
                      </a:r>
                    </a:p>
                  </a:txBody>
                  <a:tcPr>
                    <a:solidFill>
                      <a:srgbClr val="F4F6F9"/>
                    </a:solidFill>
                  </a:tcPr>
                </a:tc>
                <a:tc>
                  <a:txBody>
                    <a:bodyPr/>
                    <a:lstStyle/>
                    <a:p>
                      <a:r>
                        <a:rPr sz="1500" b="0">
                          <a:solidFill>
                            <a:srgbClr val="1C2230"/>
                          </a:solidFill>
                          <a:latin typeface="Arial"/>
                        </a:rPr>
                        <a:t>Holiday hours = min(hours, 40) ÷ 40 × 8</a:t>
                      </a:r>
                    </a:p>
                  </a:txBody>
                  <a:tcPr>
                    <a:solidFill>
                      <a:srgbClr val="FFFFFF"/>
                    </a:solidFill>
                  </a:tcPr>
                </a:tc>
                <a:tc>
                  <a:txBody>
                    <a:bodyPr/>
                    <a:lstStyle/>
                    <a:p>
                      <a:r>
                        <a:rPr sz="1500" b="0">
                          <a:solidFill>
                            <a:srgbClr val="1C2230"/>
                          </a:solidFill>
                          <a:latin typeface="Arial"/>
                        </a:rPr>
                        <a:t>Enforcement Decree Art. 30</a:t>
                      </a:r>
                    </a:p>
                  </a:txBody>
                  <a:tcPr>
                    <a:solidFill>
                      <a:srgbClr val="FFFFFF"/>
                    </a:solidFill>
                  </a:tcPr>
                </a:tc>
              </a:tr>
              <a:tr h="700000">
                <a:tc>
                  <a:txBody>
                    <a:bodyPr/>
                    <a:lstStyle/>
                    <a:p>
                      <a:r>
                        <a:rPr sz="1400" b="1">
                          <a:solidFill>
                            <a:srgbClr val="1C2230"/>
                          </a:solidFill>
                          <a:latin typeface="Courier New"/>
                        </a:rPr>
                        <a:t>BR-08</a:t>
                      </a:r>
                    </a:p>
                  </a:txBody>
                  <a:tcPr>
                    <a:solidFill>
                      <a:srgbClr val="F4F6F9"/>
                    </a:solidFill>
                  </a:tcPr>
                </a:tc>
                <a:tc>
                  <a:txBody>
                    <a:bodyPr/>
                    <a:lstStyle/>
                    <a:p>
                      <a:r>
                        <a:rPr sz="1500" b="0">
                          <a:solidFill>
                            <a:srgbClr val="1C2230"/>
                          </a:solidFill>
                          <a:latin typeface="Arial"/>
                        </a:rPr>
                        <a:t>50 % premiums only with 5 or more regular employees</a:t>
                      </a:r>
                    </a:p>
                  </a:txBody>
                  <a:tcPr>
                    <a:solidFill>
                      <a:srgbClr val="FFFFFF"/>
                    </a:solidFill>
                  </a:tcPr>
                </a:tc>
                <a:tc>
                  <a:txBody>
                    <a:bodyPr/>
                    <a:lstStyle/>
                    <a:p>
                      <a:r>
                        <a:rPr sz="1500" b="0">
                          <a:solidFill>
                            <a:srgbClr val="1C2230"/>
                          </a:solidFill>
                          <a:latin typeface="Arial"/>
                        </a:rPr>
                        <a:t>Art. 11, 56</a:t>
                      </a:r>
                    </a:p>
                  </a:txBody>
                  <a:tcPr>
                    <a:solidFill>
                      <a:srgbClr val="FFFFFF"/>
                    </a:solidFill>
                  </a:tcPr>
                </a:tc>
              </a:tr>
              <a:tr h="700000">
                <a:tc>
                  <a:txBody>
                    <a:bodyPr/>
                    <a:lstStyle/>
                    <a:p>
                      <a:r>
                        <a:rPr sz="1400" b="1">
                          <a:solidFill>
                            <a:srgbClr val="1C2230"/>
                          </a:solidFill>
                          <a:latin typeface="Courier New"/>
                        </a:rPr>
                        <a:t>BR-08/15</a:t>
                      </a:r>
                    </a:p>
                  </a:txBody>
                  <a:tcPr>
                    <a:solidFill>
                      <a:srgbClr val="F4F6F9"/>
                    </a:solidFill>
                  </a:tcPr>
                </a:tc>
                <a:tc>
                  <a:txBody>
                    <a:bodyPr/>
                    <a:lstStyle/>
                    <a:p>
                      <a:r>
                        <a:rPr sz="1500" b="0">
                          <a:solidFill>
                            <a:srgbClr val="1C2230"/>
                          </a:solidFill>
                          <a:latin typeface="Arial"/>
                        </a:rPr>
                        <a:t>Part-time: hours beyond contract earn 50 %; warn above 12 h a week</a:t>
                      </a:r>
                    </a:p>
                  </a:txBody>
                  <a:tcPr>
                    <a:solidFill>
                      <a:srgbClr val="FFFFFF"/>
                    </a:solidFill>
                  </a:tcPr>
                </a:tc>
                <a:tc>
                  <a:txBody>
                    <a:bodyPr/>
                    <a:lstStyle/>
                    <a:p>
                      <a:r>
                        <a:rPr sz="1500" b="0">
                          <a:solidFill>
                            <a:srgbClr val="1C2230"/>
                          </a:solidFill>
                          <a:latin typeface="Arial"/>
                        </a:rPr>
                        <a:t>Fixed-term and Part-time Employees Act Art. 6</a:t>
                      </a:r>
                    </a:p>
                  </a:txBody>
                  <a:tcPr>
                    <a:solidFill>
                      <a:srgbClr val="FFFFFF"/>
                    </a:solidFill>
                  </a:tcPr>
                </a:tc>
              </a:tr>
              <a:tr h="700000">
                <a:tc>
                  <a:txBody>
                    <a:bodyPr/>
                    <a:lstStyle/>
                    <a:p>
                      <a:r>
                        <a:rPr sz="1400" b="1">
                          <a:solidFill>
                            <a:srgbClr val="1C2230"/>
                          </a:solidFill>
                          <a:latin typeface="Courier New"/>
                        </a:rPr>
                        <a:t>BR-09/10</a:t>
                      </a:r>
                    </a:p>
                  </a:txBody>
                  <a:tcPr>
                    <a:solidFill>
                      <a:srgbClr val="F4F6F9"/>
                    </a:solidFill>
                  </a:tcPr>
                </a:tc>
                <a:tc>
                  <a:txBody>
                    <a:bodyPr/>
                    <a:lstStyle/>
                    <a:p>
                      <a:r>
                        <a:rPr sz="1500" b="0">
                          <a:solidFill>
                            <a:srgbClr val="1C2230"/>
                          </a:solidFill>
                          <a:latin typeface="Arial"/>
                        </a:rPr>
                        <a:t>Warn below KRW 10,320; 90 % only in qualifying probation</a:t>
                      </a:r>
                    </a:p>
                  </a:txBody>
                  <a:tcPr>
                    <a:solidFill>
                      <a:srgbClr val="FFFFFF"/>
                    </a:solidFill>
                  </a:tcPr>
                </a:tc>
                <a:tc>
                  <a:txBody>
                    <a:bodyPr/>
                    <a:lstStyle/>
                    <a:p>
                      <a:r>
                        <a:rPr sz="1500" b="0">
                          <a:solidFill>
                            <a:srgbClr val="1C2230"/>
                          </a:solidFill>
                          <a:latin typeface="Arial"/>
                        </a:rPr>
                        <a:t>Minimum Wage Act Art. 5 ②</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0000" cy="6858000"/>
          </a:xfrm>
          <a:prstGeom prst="rect">
            <a:avLst/>
          </a:prstGeom>
          <a:solidFill>
            <a:srgbClr val="2B5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00" y="430000"/>
            <a:ext cx="10912000" cy="700000"/>
          </a:xfrm>
          <a:prstGeom prst="rect">
            <a:avLst/>
          </a:prstGeom>
          <a:noFill/>
        </p:spPr>
        <p:txBody>
          <a:bodyPr wrap="square">
            <a:spAutoFit/>
          </a:bodyPr>
          <a:lstStyle/>
          <a:p>
            <a:pPr algn="l">
              <a:spcAft>
                <a:spcPts val="1500"/>
              </a:spcAft>
            </a:pPr>
            <a:r>
              <a:rPr sz="3000" b="1">
                <a:solidFill>
                  <a:srgbClr val="1C2230"/>
                </a:solidFill>
                <a:latin typeface="Arial"/>
              </a:rPr>
              <a:t>A requirement we changed</a:t>
            </a:r>
          </a:p>
        </p:txBody>
      </p:sp>
      <p:sp>
        <p:nvSpPr>
          <p:cNvPr id="4" name="TextBox 3"/>
          <p:cNvSpPr txBox="1"/>
          <p:nvPr/>
        </p:nvSpPr>
        <p:spPr>
          <a:xfrm>
            <a:off x="640000" y="6338000"/>
            <a:ext cx="10912000" cy="300000"/>
          </a:xfrm>
          <a:prstGeom prst="rect">
            <a:avLst/>
          </a:prstGeom>
          <a:noFill/>
        </p:spPr>
        <p:txBody>
          <a:bodyPr wrap="square">
            <a:spAutoFit/>
          </a:bodyPr>
          <a:lstStyle/>
          <a:p>
            <a:pPr algn="l">
              <a:spcAft>
                <a:spcPts val="550"/>
              </a:spcAft>
            </a:pPr>
            <a:r>
              <a:rPr sz="1100" b="0">
                <a:solidFill>
                  <a:srgbClr val="4A5163"/>
                </a:solidFill>
                <a:latin typeface="Arial"/>
              </a:rPr>
              <a:t>7 / 16   ·   Hyewon Kim</a:t>
            </a:r>
          </a:p>
        </p:txBody>
      </p:sp>
      <p:sp>
        <p:nvSpPr>
          <p:cNvPr id="5" name="Rectangle 4"/>
          <p:cNvSpPr/>
          <p:nvPr/>
        </p:nvSpPr>
        <p:spPr>
          <a:xfrm>
            <a:off x="640000" y="1450000"/>
            <a:ext cx="3504000" cy="3800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0000" y="1600000"/>
            <a:ext cx="3104000" cy="500000"/>
          </a:xfrm>
          <a:prstGeom prst="rect">
            <a:avLst/>
          </a:prstGeom>
          <a:noFill/>
        </p:spPr>
        <p:txBody>
          <a:bodyPr wrap="square">
            <a:spAutoFit/>
          </a:bodyPr>
          <a:lstStyle/>
          <a:p>
            <a:pPr algn="l">
              <a:spcAft>
                <a:spcPts val="800"/>
              </a:spcAft>
            </a:pPr>
            <a:r>
              <a:rPr sz="1600" b="1">
                <a:solidFill>
                  <a:srgbClr val="2B5BD7"/>
                </a:solidFill>
                <a:latin typeface="Courier New"/>
              </a:rPr>
              <a:t>Found</a:t>
            </a:r>
          </a:p>
        </p:txBody>
      </p:sp>
      <p:sp>
        <p:nvSpPr>
          <p:cNvPr id="7" name="TextBox 6"/>
          <p:cNvSpPr txBox="1"/>
          <p:nvPr/>
        </p:nvSpPr>
        <p:spPr>
          <a:xfrm>
            <a:off x="840000" y="2100000"/>
            <a:ext cx="3104000" cy="700000"/>
          </a:xfrm>
          <a:prstGeom prst="rect">
            <a:avLst/>
          </a:prstGeom>
          <a:noFill/>
        </p:spPr>
        <p:txBody>
          <a:bodyPr wrap="square">
            <a:spAutoFit/>
          </a:bodyPr>
          <a:lstStyle/>
          <a:p>
            <a:pPr algn="l">
              <a:spcAft>
                <a:spcPts val="1100"/>
              </a:spcAft>
            </a:pPr>
            <a:r>
              <a:rPr sz="2200" b="1">
                <a:solidFill>
                  <a:srgbClr val="1C2230"/>
                </a:solidFill>
                <a:latin typeface="Arial"/>
              </a:rPr>
              <a:t>A dead end</a:t>
            </a:r>
          </a:p>
        </p:txBody>
      </p:sp>
      <p:sp>
        <p:nvSpPr>
          <p:cNvPr id="8" name="TextBox 7"/>
          <p:cNvSpPr txBox="1"/>
          <p:nvPr/>
        </p:nvSpPr>
        <p:spPr>
          <a:xfrm>
            <a:off x="840000" y="2950000"/>
            <a:ext cx="3104000" cy="2200000"/>
          </a:xfrm>
          <a:prstGeom prst="rect">
            <a:avLst/>
          </a:prstGeom>
          <a:noFill/>
        </p:spPr>
        <p:txBody>
          <a:bodyPr wrap="square">
            <a:spAutoFit/>
          </a:bodyPr>
          <a:lstStyle/>
          <a:p>
            <a:pPr algn="l">
              <a:spcAft>
                <a:spcPts val="800"/>
              </a:spcAft>
            </a:pPr>
            <a:r>
              <a:rPr sz="1600" b="0">
                <a:solidFill>
                  <a:srgbClr val="4A5163"/>
                </a:solidFill>
                <a:latin typeface="Arial"/>
              </a:rPr>
              <a:t>When nobody's availability matched, the owner was only told 'no candidate' and could do nothing.</a:t>
            </a:r>
          </a:p>
        </p:txBody>
      </p:sp>
      <p:sp>
        <p:nvSpPr>
          <p:cNvPr id="9" name="Rectangle 8"/>
          <p:cNvSpPr/>
          <p:nvPr/>
        </p:nvSpPr>
        <p:spPr>
          <a:xfrm>
            <a:off x="4344000" y="1450000"/>
            <a:ext cx="3504000" cy="3800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000" y="1600000"/>
            <a:ext cx="3104000" cy="500000"/>
          </a:xfrm>
          <a:prstGeom prst="rect">
            <a:avLst/>
          </a:prstGeom>
          <a:noFill/>
        </p:spPr>
        <p:txBody>
          <a:bodyPr wrap="square">
            <a:spAutoFit/>
          </a:bodyPr>
          <a:lstStyle/>
          <a:p>
            <a:pPr algn="l">
              <a:spcAft>
                <a:spcPts val="800"/>
              </a:spcAft>
            </a:pPr>
            <a:r>
              <a:rPr sz="1600" b="1">
                <a:solidFill>
                  <a:srgbClr val="2B5BD7"/>
                </a:solidFill>
                <a:latin typeface="Courier New"/>
              </a:rPr>
              <a:t>Decided</a:t>
            </a:r>
          </a:p>
        </p:txBody>
      </p:sp>
      <p:sp>
        <p:nvSpPr>
          <p:cNvPr id="11" name="TextBox 10"/>
          <p:cNvSpPr txBox="1"/>
          <p:nvPr/>
        </p:nvSpPr>
        <p:spPr>
          <a:xfrm>
            <a:off x="4544000" y="2100000"/>
            <a:ext cx="3104000" cy="700000"/>
          </a:xfrm>
          <a:prstGeom prst="rect">
            <a:avLst/>
          </a:prstGeom>
          <a:noFill/>
        </p:spPr>
        <p:txBody>
          <a:bodyPr wrap="square">
            <a:spAutoFit/>
          </a:bodyPr>
          <a:lstStyle/>
          <a:p>
            <a:pPr algn="l">
              <a:spcAft>
                <a:spcPts val="1100"/>
              </a:spcAft>
            </a:pPr>
            <a:r>
              <a:rPr sz="2200" b="1">
                <a:solidFill>
                  <a:srgbClr val="1C2230"/>
                </a:solidFill>
                <a:latin typeface="Arial"/>
              </a:rPr>
              <a:t>Ask everyone, allow 'can't'</a:t>
            </a:r>
          </a:p>
        </p:txBody>
      </p:sp>
      <p:sp>
        <p:nvSpPr>
          <p:cNvPr id="12" name="TextBox 11"/>
          <p:cNvSpPr txBox="1"/>
          <p:nvPr/>
        </p:nvSpPr>
        <p:spPr>
          <a:xfrm>
            <a:off x="4544000" y="2950000"/>
            <a:ext cx="3104000" cy="2200000"/>
          </a:xfrm>
          <a:prstGeom prst="rect">
            <a:avLst/>
          </a:prstGeom>
          <a:noFill/>
        </p:spPr>
        <p:txBody>
          <a:bodyPr wrap="square">
            <a:spAutoFit/>
          </a:bodyPr>
          <a:lstStyle/>
          <a:p>
            <a:pPr algn="l">
              <a:spcAft>
                <a:spcPts val="800"/>
              </a:spcAft>
            </a:pPr>
            <a:r>
              <a:rPr sz="1600" b="0">
                <a:solidFill>
                  <a:srgbClr val="4A5163"/>
                </a:solidFill>
                <a:latin typeface="Arial"/>
              </a:rPr>
              <a:t>Availability is no longer collected. Every co-worker not already working is asked; the first to accept takes it.</a:t>
            </a:r>
          </a:p>
        </p:txBody>
      </p:sp>
      <p:sp>
        <p:nvSpPr>
          <p:cNvPr id="13" name="Rectangle 12"/>
          <p:cNvSpPr/>
          <p:nvPr/>
        </p:nvSpPr>
        <p:spPr>
          <a:xfrm>
            <a:off x="8048000" y="1450000"/>
            <a:ext cx="3504000" cy="3800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8000" y="1600000"/>
            <a:ext cx="3104000" cy="500000"/>
          </a:xfrm>
          <a:prstGeom prst="rect">
            <a:avLst/>
          </a:prstGeom>
          <a:noFill/>
        </p:spPr>
        <p:txBody>
          <a:bodyPr wrap="square">
            <a:spAutoFit/>
          </a:bodyPr>
          <a:lstStyle/>
          <a:p>
            <a:pPr algn="l">
              <a:spcAft>
                <a:spcPts val="800"/>
              </a:spcAft>
            </a:pPr>
            <a:r>
              <a:rPr sz="1600" b="1">
                <a:solidFill>
                  <a:srgbClr val="2B5BD7"/>
                </a:solidFill>
                <a:latin typeface="Courier New"/>
              </a:rPr>
              <a:t>Result</a:t>
            </a:r>
          </a:p>
        </p:txBody>
      </p:sp>
      <p:sp>
        <p:nvSpPr>
          <p:cNvPr id="15" name="TextBox 14"/>
          <p:cNvSpPr txBox="1"/>
          <p:nvPr/>
        </p:nvSpPr>
        <p:spPr>
          <a:xfrm>
            <a:off x="8248000" y="2100000"/>
            <a:ext cx="3104000" cy="700000"/>
          </a:xfrm>
          <a:prstGeom prst="rect">
            <a:avLst/>
          </a:prstGeom>
          <a:noFill/>
        </p:spPr>
        <p:txBody>
          <a:bodyPr wrap="square">
            <a:spAutoFit/>
          </a:bodyPr>
          <a:lstStyle/>
          <a:p>
            <a:pPr algn="l">
              <a:spcAft>
                <a:spcPts val="1100"/>
              </a:spcAft>
            </a:pPr>
            <a:r>
              <a:rPr sz="2200" b="1">
                <a:solidFill>
                  <a:srgbClr val="1C2230"/>
                </a:solidFill>
                <a:latin typeface="Arial"/>
              </a:rPr>
              <a:t>A clear ending</a:t>
            </a:r>
          </a:p>
        </p:txBody>
      </p:sp>
      <p:sp>
        <p:nvSpPr>
          <p:cNvPr id="16" name="TextBox 15"/>
          <p:cNvSpPr txBox="1"/>
          <p:nvPr/>
        </p:nvSpPr>
        <p:spPr>
          <a:xfrm>
            <a:off x="8248000" y="2950000"/>
            <a:ext cx="3104000" cy="2200000"/>
          </a:xfrm>
          <a:prstGeom prst="rect">
            <a:avLst/>
          </a:prstGeom>
          <a:noFill/>
        </p:spPr>
        <p:txBody>
          <a:bodyPr wrap="square">
            <a:spAutoFit/>
          </a:bodyPr>
          <a:lstStyle/>
          <a:p>
            <a:pPr algn="l">
              <a:spcAft>
                <a:spcPts val="800"/>
              </a:spcAft>
            </a:pPr>
            <a:r>
              <a:rPr sz="1600" b="0">
                <a:solidFill>
                  <a:srgbClr val="4A5163"/>
                </a:solidFill>
                <a:latin typeface="Arial"/>
              </a:rPr>
              <a:t>If everyone answers 'can't', the requester is told to call the owner and the owner gets one card to acknowledge.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0000" cy="685800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00" y="430000"/>
            <a:ext cx="10912000" cy="700000"/>
          </a:xfrm>
          <a:prstGeom prst="rect">
            <a:avLst/>
          </a:prstGeom>
          <a:noFill/>
        </p:spPr>
        <p:txBody>
          <a:bodyPr wrap="square">
            <a:spAutoFit/>
          </a:bodyPr>
          <a:lstStyle/>
          <a:p>
            <a:pPr algn="l">
              <a:spcAft>
                <a:spcPts val="1500"/>
              </a:spcAft>
            </a:pPr>
            <a:r>
              <a:rPr sz="3000" b="1">
                <a:solidFill>
                  <a:srgbClr val="1C2230"/>
                </a:solidFill>
                <a:latin typeface="Arial"/>
              </a:rPr>
              <a:t>Architecture: a static web app and a shared database</a:t>
            </a:r>
          </a:p>
        </p:txBody>
      </p:sp>
      <p:sp>
        <p:nvSpPr>
          <p:cNvPr id="4" name="TextBox 3"/>
          <p:cNvSpPr txBox="1"/>
          <p:nvPr/>
        </p:nvSpPr>
        <p:spPr>
          <a:xfrm>
            <a:off x="640000" y="6338000"/>
            <a:ext cx="10912000" cy="300000"/>
          </a:xfrm>
          <a:prstGeom prst="rect">
            <a:avLst/>
          </a:prstGeom>
          <a:noFill/>
        </p:spPr>
        <p:txBody>
          <a:bodyPr wrap="square">
            <a:spAutoFit/>
          </a:bodyPr>
          <a:lstStyle/>
          <a:p>
            <a:pPr algn="l">
              <a:spcAft>
                <a:spcPts val="550"/>
              </a:spcAft>
            </a:pPr>
            <a:r>
              <a:rPr sz="1100" b="0">
                <a:solidFill>
                  <a:srgbClr val="4A5163"/>
                </a:solidFill>
                <a:latin typeface="Arial"/>
              </a:rPr>
              <a:t>8 / 16   ·   Hyoungdo Kim</a:t>
            </a:r>
          </a:p>
        </p:txBody>
      </p:sp>
      <p:pic>
        <p:nvPicPr>
          <p:cNvPr id="5" name="Picture 4" descr="component.png"/>
          <p:cNvPicPr>
            <a:picLocks noChangeAspect="1"/>
          </p:cNvPicPr>
          <p:nvPr/>
        </p:nvPicPr>
        <p:blipFill>
          <a:blip r:embed="rId2"/>
          <a:stretch>
            <a:fillRect/>
          </a:stretch>
        </p:blipFill>
        <p:spPr>
          <a:xfrm>
            <a:off x="1613590" y="1250000"/>
            <a:ext cx="8964819" cy="4450000"/>
          </a:xfrm>
          <a:prstGeom prst="rect">
            <a:avLst/>
          </a:prstGeom>
        </p:spPr>
      </p:pic>
      <p:sp>
        <p:nvSpPr>
          <p:cNvPr id="6" name="TextBox 5"/>
          <p:cNvSpPr txBox="1"/>
          <p:nvPr/>
        </p:nvSpPr>
        <p:spPr>
          <a:xfrm>
            <a:off x="640000" y="5750000"/>
            <a:ext cx="10912000" cy="400000"/>
          </a:xfrm>
          <a:prstGeom prst="rect">
            <a:avLst/>
          </a:prstGeom>
          <a:noFill/>
        </p:spPr>
        <p:txBody>
          <a:bodyPr wrap="square">
            <a:spAutoFit/>
          </a:bodyPr>
          <a:lstStyle/>
          <a:p>
            <a:pPr algn="l">
              <a:spcAft>
                <a:spcPts val="650"/>
              </a:spcAft>
            </a:pPr>
            <a:r>
              <a:rPr sz="1300" b="0">
                <a:solidFill>
                  <a:srgbClr val="4A5163"/>
                </a:solidFill>
                <a:latin typeface="Arial"/>
              </a:rPr>
              <a:t>Presentation → application services → pure rules → SQLite working copy (sql.js) → shared database (three RPC functions) or localStorage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0000" cy="685800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00" y="430000"/>
            <a:ext cx="10912000" cy="700000"/>
          </a:xfrm>
          <a:prstGeom prst="rect">
            <a:avLst/>
          </a:prstGeom>
          <a:noFill/>
        </p:spPr>
        <p:txBody>
          <a:bodyPr wrap="square">
            <a:spAutoFit/>
          </a:bodyPr>
          <a:lstStyle/>
          <a:p>
            <a:pPr algn="l">
              <a:spcAft>
                <a:spcPts val="1500"/>
              </a:spcAft>
            </a:pPr>
            <a:r>
              <a:rPr sz="3000" b="1">
                <a:solidFill>
                  <a:srgbClr val="1C2230"/>
                </a:solidFill>
                <a:latin typeface="Arial"/>
              </a:rPr>
              <a:t>First acceptance wins</a:t>
            </a:r>
          </a:p>
        </p:txBody>
      </p:sp>
      <p:sp>
        <p:nvSpPr>
          <p:cNvPr id="4" name="TextBox 3"/>
          <p:cNvSpPr txBox="1"/>
          <p:nvPr/>
        </p:nvSpPr>
        <p:spPr>
          <a:xfrm>
            <a:off x="640000" y="6338000"/>
            <a:ext cx="10912000" cy="300000"/>
          </a:xfrm>
          <a:prstGeom prst="rect">
            <a:avLst/>
          </a:prstGeom>
          <a:noFill/>
        </p:spPr>
        <p:txBody>
          <a:bodyPr wrap="square">
            <a:spAutoFit/>
          </a:bodyPr>
          <a:lstStyle/>
          <a:p>
            <a:pPr algn="l">
              <a:spcAft>
                <a:spcPts val="550"/>
              </a:spcAft>
            </a:pPr>
            <a:r>
              <a:rPr sz="1100" b="0">
                <a:solidFill>
                  <a:srgbClr val="4A5163"/>
                </a:solidFill>
                <a:latin typeface="Arial"/>
              </a:rPr>
              <a:t>9 / 16   ·   Hyoungdo Kim</a:t>
            </a:r>
          </a:p>
        </p:txBody>
      </p:sp>
      <p:pic>
        <p:nvPicPr>
          <p:cNvPr id="5" name="Picture 4" descr="seq-2-accept.png"/>
          <p:cNvPicPr>
            <a:picLocks noChangeAspect="1"/>
          </p:cNvPicPr>
          <p:nvPr/>
        </p:nvPicPr>
        <p:blipFill>
          <a:blip r:embed="rId2"/>
          <a:stretch>
            <a:fillRect/>
          </a:stretch>
        </p:blipFill>
        <p:spPr>
          <a:xfrm>
            <a:off x="4514140" y="1250000"/>
            <a:ext cx="3163719" cy="4450000"/>
          </a:xfrm>
          <a:prstGeom prst="rect">
            <a:avLst/>
          </a:prstGeom>
        </p:spPr>
      </p:pic>
      <p:sp>
        <p:nvSpPr>
          <p:cNvPr id="6" name="TextBox 5"/>
          <p:cNvSpPr txBox="1"/>
          <p:nvPr/>
        </p:nvSpPr>
        <p:spPr>
          <a:xfrm>
            <a:off x="640000" y="5750000"/>
            <a:ext cx="10912000" cy="400000"/>
          </a:xfrm>
          <a:prstGeom prst="rect">
            <a:avLst/>
          </a:prstGeom>
          <a:noFill/>
        </p:spPr>
        <p:txBody>
          <a:bodyPr wrap="square">
            <a:spAutoFit/>
          </a:bodyPr>
          <a:lstStyle/>
          <a:p>
            <a:pPr algn="l">
              <a:spcAft>
                <a:spcPts val="650"/>
              </a:spcAft>
            </a:pPr>
            <a:r>
              <a:rPr sz="1300" b="0">
                <a:solidFill>
                  <a:srgbClr val="4A5163"/>
                </a:solidFill>
                <a:latin typeface="Arial"/>
              </a:rPr>
              <a:t>Sequence SD-2: the second acceptance re-checks the state inside its transaction and is refused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0000" cy="685800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00" y="430000"/>
            <a:ext cx="10912000" cy="700000"/>
          </a:xfrm>
          <a:prstGeom prst="rect">
            <a:avLst/>
          </a:prstGeom>
          <a:noFill/>
        </p:spPr>
        <p:txBody>
          <a:bodyPr wrap="square">
            <a:spAutoFit/>
          </a:bodyPr>
          <a:lstStyle/>
          <a:p>
            <a:pPr algn="l">
              <a:spcAft>
                <a:spcPts val="1500"/>
              </a:spcAft>
            </a:pPr>
            <a:r>
              <a:rPr sz="3000" b="1">
                <a:solidFill>
                  <a:srgbClr val="1C2230"/>
                </a:solidFill>
                <a:latin typeface="Arial"/>
              </a:rPr>
              <a:t>Life of a substitute request</a:t>
            </a:r>
          </a:p>
        </p:txBody>
      </p:sp>
      <p:sp>
        <p:nvSpPr>
          <p:cNvPr id="4" name="TextBox 3"/>
          <p:cNvSpPr txBox="1"/>
          <p:nvPr/>
        </p:nvSpPr>
        <p:spPr>
          <a:xfrm>
            <a:off x="640000" y="6338000"/>
            <a:ext cx="10912000" cy="300000"/>
          </a:xfrm>
          <a:prstGeom prst="rect">
            <a:avLst/>
          </a:prstGeom>
          <a:noFill/>
        </p:spPr>
        <p:txBody>
          <a:bodyPr wrap="square">
            <a:spAutoFit/>
          </a:bodyPr>
          <a:lstStyle/>
          <a:p>
            <a:pPr algn="l">
              <a:spcAft>
                <a:spcPts val="550"/>
              </a:spcAft>
            </a:pPr>
            <a:r>
              <a:rPr sz="1100" b="0">
                <a:solidFill>
                  <a:srgbClr val="4A5163"/>
                </a:solidFill>
                <a:latin typeface="Arial"/>
              </a:rPr>
              <a:t>10 / 16   ·   Hyoungdo Kim</a:t>
            </a:r>
          </a:p>
        </p:txBody>
      </p:sp>
      <p:pic>
        <p:nvPicPr>
          <p:cNvPr id="5" name="Picture 4" descr="state-subrequest.png"/>
          <p:cNvPicPr>
            <a:picLocks noChangeAspect="1"/>
          </p:cNvPicPr>
          <p:nvPr/>
        </p:nvPicPr>
        <p:blipFill>
          <a:blip r:embed="rId2"/>
          <a:stretch>
            <a:fillRect/>
          </a:stretch>
        </p:blipFill>
        <p:spPr>
          <a:xfrm>
            <a:off x="640000" y="1767735"/>
            <a:ext cx="10912000" cy="3414529"/>
          </a:xfrm>
          <a:prstGeom prst="rect">
            <a:avLst/>
          </a:prstGeom>
        </p:spPr>
      </p:pic>
      <p:sp>
        <p:nvSpPr>
          <p:cNvPr id="6" name="TextBox 5"/>
          <p:cNvSpPr txBox="1"/>
          <p:nvPr/>
        </p:nvSpPr>
        <p:spPr>
          <a:xfrm>
            <a:off x="640000" y="5750000"/>
            <a:ext cx="10912000" cy="400000"/>
          </a:xfrm>
          <a:prstGeom prst="rect">
            <a:avLst/>
          </a:prstGeom>
          <a:noFill/>
        </p:spPr>
        <p:txBody>
          <a:bodyPr wrap="square">
            <a:spAutoFit/>
          </a:bodyPr>
          <a:lstStyle/>
          <a:p>
            <a:pPr algn="l">
              <a:spcAft>
                <a:spcPts val="650"/>
              </a:spcAft>
            </a:pPr>
            <a:r>
              <a:rPr sz="1300" b="0">
                <a:solidFill>
                  <a:srgbClr val="4A5163"/>
                </a:solidFill>
                <a:latin typeface="Arial"/>
              </a:rPr>
              <a:t>State diagram: REQUESTED → ACCEPTED → APPROVED / REJECTED, with EXPIRED and CANCELLED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0000" cy="685800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00" y="430000"/>
            <a:ext cx="10912000" cy="700000"/>
          </a:xfrm>
          <a:prstGeom prst="rect">
            <a:avLst/>
          </a:prstGeom>
          <a:noFill/>
        </p:spPr>
        <p:txBody>
          <a:bodyPr wrap="square">
            <a:spAutoFit/>
          </a:bodyPr>
          <a:lstStyle/>
          <a:p>
            <a:pPr algn="l">
              <a:spcAft>
                <a:spcPts val="1500"/>
              </a:spcAft>
            </a:pPr>
            <a:r>
              <a:rPr sz="3000" b="1">
                <a:solidFill>
                  <a:srgbClr val="1C2230"/>
                </a:solidFill>
                <a:latin typeface="Arial"/>
              </a:rPr>
              <a:t>Vibe coding: eight prompt versions</a:t>
            </a:r>
          </a:p>
        </p:txBody>
      </p:sp>
      <p:sp>
        <p:nvSpPr>
          <p:cNvPr id="4" name="TextBox 3"/>
          <p:cNvSpPr txBox="1"/>
          <p:nvPr/>
        </p:nvSpPr>
        <p:spPr>
          <a:xfrm>
            <a:off x="640000" y="6338000"/>
            <a:ext cx="10912000" cy="300000"/>
          </a:xfrm>
          <a:prstGeom prst="rect">
            <a:avLst/>
          </a:prstGeom>
          <a:noFill/>
        </p:spPr>
        <p:txBody>
          <a:bodyPr wrap="square">
            <a:spAutoFit/>
          </a:bodyPr>
          <a:lstStyle/>
          <a:p>
            <a:pPr algn="l">
              <a:spcAft>
                <a:spcPts val="550"/>
              </a:spcAft>
            </a:pPr>
            <a:r>
              <a:rPr sz="1100" b="0">
                <a:solidFill>
                  <a:srgbClr val="4A5163"/>
                </a:solidFill>
                <a:latin typeface="Arial"/>
              </a:rPr>
              <a:t>11 / 16   ·   Hyoungdo Kim</a:t>
            </a:r>
          </a:p>
        </p:txBody>
      </p:sp>
      <p:graphicFrame>
        <p:nvGraphicFramePr>
          <p:cNvPr id="5" name="Table 4"/>
          <p:cNvGraphicFramePr>
            <a:graphicFrameLocks noGrp="1"/>
          </p:cNvGraphicFramePr>
          <p:nvPr/>
        </p:nvGraphicFramePr>
        <p:xfrm>
          <a:off x="640000" y="1450000"/>
          <a:ext cx="10912000" cy="5600000"/>
        </p:xfrm>
        <a:graphic>
          <a:graphicData uri="http://schemas.openxmlformats.org/drawingml/2006/table">
            <a:tbl>
              <a:tblPr firstRow="1" bandRow="1">
                <a:tableStyleId>{5C22544A-7EE6-4342-B048-85BDC9FD1C3A}</a:tableStyleId>
              </a:tblPr>
              <a:tblGrid>
                <a:gridCol w="1309440"/>
                <a:gridCol w="5237760"/>
                <a:gridCol w="4364800"/>
              </a:tblGrid>
              <a:tr h="700000">
                <a:tc>
                  <a:txBody>
                    <a:bodyPr/>
                    <a:lstStyle/>
                    <a:p>
                      <a:r>
                        <a:rPr sz="1400" b="1">
                          <a:solidFill>
                            <a:srgbClr val="1C2230"/>
                          </a:solidFill>
                          <a:latin typeface="Courier New"/>
                        </a:rPr>
                        <a:t>v1</a:t>
                      </a:r>
                    </a:p>
                  </a:txBody>
                  <a:tcPr>
                    <a:solidFill>
                      <a:srgbClr val="F4F6F9"/>
                    </a:solidFill>
                  </a:tcPr>
                </a:tc>
                <a:tc>
                  <a:txBody>
                    <a:bodyPr/>
                    <a:lstStyle/>
                    <a:p>
                      <a:r>
                        <a:rPr sz="1500" b="0">
                          <a:solidFill>
                            <a:srgbClr val="1C2230"/>
                          </a:solidFill>
                          <a:latin typeface="Arial"/>
                        </a:rPr>
                        <a:t>Specification + technology, screens, design, done criteria</a:t>
                      </a:r>
                    </a:p>
                  </a:txBody>
                  <a:tcPr>
                    <a:solidFill>
                      <a:srgbClr val="FFFFFF"/>
                    </a:solidFill>
                  </a:tcPr>
                </a:tc>
                <a:tc>
                  <a:txBody>
                    <a:bodyPr/>
                    <a:lstStyle/>
                    <a:p>
                      <a:r>
                        <a:rPr sz="1500" b="0">
                          <a:solidFill>
                            <a:srgbClr val="1C2230"/>
                          </a:solidFill>
                          <a:latin typeface="Arial"/>
                        </a:rPr>
                        <a:t>App built; 21 ambiguities logged by the build</a:t>
                      </a:r>
                    </a:p>
                  </a:txBody>
                  <a:tcPr>
                    <a:solidFill>
                      <a:srgbClr val="FFFFFF"/>
                    </a:solidFill>
                  </a:tcPr>
                </a:tc>
              </a:tr>
              <a:tr h="700000">
                <a:tc>
                  <a:txBody>
                    <a:bodyPr/>
                    <a:lstStyle/>
                    <a:p>
                      <a:r>
                        <a:rPr sz="1400" b="1">
                          <a:solidFill>
                            <a:srgbClr val="1C2230"/>
                          </a:solidFill>
                          <a:latin typeface="Courier New"/>
                        </a:rPr>
                        <a:t>v2</a:t>
                      </a:r>
                    </a:p>
                  </a:txBody>
                  <a:tcPr>
                    <a:solidFill>
                      <a:srgbClr val="F4F6F9"/>
                    </a:solidFill>
                  </a:tcPr>
                </a:tc>
                <a:tc>
                  <a:txBody>
                    <a:bodyPr/>
                    <a:lstStyle/>
                    <a:p>
                      <a:r>
                        <a:rPr sz="1500" b="0">
                          <a:solidFill>
                            <a:srgbClr val="1C2230"/>
                          </a:solidFill>
                          <a:latin typeface="Arial"/>
                        </a:rPr>
                        <a:t>Ambiguities and document-review gaps resolved in the spec</a:t>
                      </a:r>
                    </a:p>
                  </a:txBody>
                  <a:tcPr>
                    <a:solidFill>
                      <a:srgbClr val="FFFFFF"/>
                    </a:solidFill>
                  </a:tcPr>
                </a:tc>
                <a:tc>
                  <a:txBody>
                    <a:bodyPr/>
                    <a:lstStyle/>
                    <a:p>
                      <a:r>
                        <a:rPr sz="1500" b="0">
                          <a:solidFill>
                            <a:srgbClr val="1C2230"/>
                          </a:solidFill>
                          <a:latin typeface="Arial"/>
                        </a:rPr>
                        <a:t>Acknowledgement column, notification recipients, S7 walkthrough</a:t>
                      </a:r>
                    </a:p>
                  </a:txBody>
                  <a:tcPr>
                    <a:solidFill>
                      <a:srgbClr val="FFFFFF"/>
                    </a:solidFill>
                  </a:tcPr>
                </a:tc>
              </a:tr>
              <a:tr h="700000">
                <a:tc>
                  <a:txBody>
                    <a:bodyPr/>
                    <a:lstStyle/>
                    <a:p>
                      <a:r>
                        <a:rPr sz="1400" b="1">
                          <a:solidFill>
                            <a:srgbClr val="1C2230"/>
                          </a:solidFill>
                          <a:latin typeface="Courier New"/>
                        </a:rPr>
                        <a:t>v3</a:t>
                      </a:r>
                    </a:p>
                  </a:txBody>
                  <a:tcPr>
                    <a:solidFill>
                      <a:srgbClr val="F4F6F9"/>
                    </a:solidFill>
                  </a:tcPr>
                </a:tc>
                <a:tc>
                  <a:txBody>
                    <a:bodyPr/>
                    <a:lstStyle/>
                    <a:p>
                      <a:r>
                        <a:rPr sz="1500" b="0">
                          <a:solidFill>
                            <a:srgbClr val="1C2230"/>
                          </a:solidFill>
                          <a:latin typeface="Arial"/>
                        </a:rPr>
                        <a:t>UI review of the running app</a:t>
                      </a:r>
                    </a:p>
                  </a:txBody>
                  <a:tcPr>
                    <a:solidFill>
                      <a:srgbClr val="FFFFFF"/>
                    </a:solidFill>
                  </a:tcPr>
                </a:tc>
                <a:tc>
                  <a:txBody>
                    <a:bodyPr/>
                    <a:lstStyle/>
                    <a:p>
                      <a:r>
                        <a:rPr sz="1500" b="0">
                          <a:solidFill>
                            <a:srgbClr val="1C2230"/>
                          </a:solidFill>
                          <a:latin typeface="Arial"/>
                        </a:rPr>
                        <a:t>Time-grid board, page purposes, overview strip, empty states</a:t>
                      </a:r>
                    </a:p>
                  </a:txBody>
                  <a:tcPr>
                    <a:solidFill>
                      <a:srgbClr val="FFFFFF"/>
                    </a:solidFill>
                  </a:tcPr>
                </a:tc>
              </a:tr>
              <a:tr h="700000">
                <a:tc>
                  <a:txBody>
                    <a:bodyPr/>
                    <a:lstStyle/>
                    <a:p>
                      <a:r>
                        <a:rPr sz="1400" b="1">
                          <a:solidFill>
                            <a:srgbClr val="1C2230"/>
                          </a:solidFill>
                          <a:latin typeface="Courier New"/>
                        </a:rPr>
                        <a:t>v4</a:t>
                      </a:r>
                    </a:p>
                  </a:txBody>
                  <a:tcPr>
                    <a:solidFill>
                      <a:srgbClr val="F4F6F9"/>
                    </a:solidFill>
                  </a:tcPr>
                </a:tc>
                <a:tc>
                  <a:txBody>
                    <a:bodyPr/>
                    <a:lstStyle/>
                    <a:p>
                      <a:r>
                        <a:rPr sz="1500" b="0">
                          <a:solidFill>
                            <a:srgbClr val="1C2230"/>
                          </a:solidFill>
                          <a:latin typeface="Arial"/>
                        </a:rPr>
                        <a:t>UX redesign review: task-first, one primary action</a:t>
                      </a:r>
                    </a:p>
                  </a:txBody>
                  <a:tcPr>
                    <a:solidFill>
                      <a:srgbClr val="FFFFFF"/>
                    </a:solidFill>
                  </a:tcPr>
                </a:tc>
                <a:tc>
                  <a:txBody>
                    <a:bodyPr/>
                    <a:lstStyle/>
                    <a:p>
                      <a:r>
                        <a:rPr sz="1500" b="0">
                          <a:solidFill>
                            <a:srgbClr val="1C2230"/>
                          </a:solidFill>
                          <a:latin typeface="Arial"/>
                        </a:rPr>
                        <a:t>Role Home screens, 3-step request flow, consequences shown before commit</a:t>
                      </a:r>
                    </a:p>
                  </a:txBody>
                  <a:tcPr>
                    <a:solidFill>
                      <a:srgbClr val="FFFFFF"/>
                    </a:solidFill>
                  </a:tcPr>
                </a:tc>
              </a:tr>
              <a:tr h="700000">
                <a:tc>
                  <a:txBody>
                    <a:bodyPr/>
                    <a:lstStyle/>
                    <a:p>
                      <a:r>
                        <a:rPr sz="1400" b="1">
                          <a:solidFill>
                            <a:srgbClr val="1C2230"/>
                          </a:solidFill>
                          <a:latin typeface="Courier New"/>
                        </a:rPr>
                        <a:t>v5</a:t>
                      </a:r>
                    </a:p>
                  </a:txBody>
                  <a:tcPr>
                    <a:solidFill>
                      <a:srgbClr val="F4F6F9"/>
                    </a:solidFill>
                  </a:tcPr>
                </a:tc>
                <a:tc>
                  <a:txBody>
                    <a:bodyPr/>
                    <a:lstStyle/>
                    <a:p>
                      <a:r>
                        <a:rPr sz="1500" b="0">
                          <a:solidFill>
                            <a:srgbClr val="1C2230"/>
                          </a:solidFill>
                          <a:latin typeface="Arial"/>
                        </a:rPr>
                        <a:t>Rebuild in an empty folder + independent code review</a:t>
                      </a:r>
                    </a:p>
                  </a:txBody>
                  <a:tcPr>
                    <a:solidFill>
                      <a:srgbClr val="FFFFFF"/>
                    </a:solidFill>
                  </a:tcPr>
                </a:tc>
                <a:tc>
                  <a:txBody>
                    <a:bodyPr/>
                    <a:lstStyle/>
                    <a:p>
                      <a:r>
                        <a:rPr sz="1500" b="0">
                          <a:solidFill>
                            <a:srgbClr val="1C2230"/>
                          </a:solidFill>
                          <a:latin typeface="Arial"/>
                        </a:rPr>
                        <a:t>Tests become input; 7 defects fixed</a:t>
                      </a:r>
                    </a:p>
                  </a:txBody>
                  <a:tcPr>
                    <a:solidFill>
                      <a:srgbClr val="FFFFFF"/>
                    </a:solidFill>
                  </a:tcPr>
                </a:tc>
              </a:tr>
              <a:tr h="700000">
                <a:tc>
                  <a:txBody>
                    <a:bodyPr/>
                    <a:lstStyle/>
                    <a:p>
                      <a:r>
                        <a:rPr sz="1400" b="1">
                          <a:solidFill>
                            <a:srgbClr val="1C2230"/>
                          </a:solidFill>
                          <a:latin typeface="Courier New"/>
                        </a:rPr>
                        <a:t>v6</a:t>
                      </a:r>
                    </a:p>
                  </a:txBody>
                  <a:tcPr>
                    <a:solidFill>
                      <a:srgbClr val="F4F6F9"/>
                    </a:solidFill>
                  </a:tcPr>
                </a:tc>
                <a:tc>
                  <a:txBody>
                    <a:bodyPr/>
                    <a:lstStyle/>
                    <a:p>
                      <a:r>
                        <a:rPr sz="1500" b="0">
                          <a:solidFill>
                            <a:srgbClr val="1C2230"/>
                          </a:solidFill>
                          <a:latin typeface="Arial"/>
                        </a:rPr>
                        <a:t>Requirements change after using the app</a:t>
                      </a:r>
                    </a:p>
                  </a:txBody>
                  <a:tcPr>
                    <a:solidFill>
                      <a:srgbClr val="FFFFFF"/>
                    </a:solidFill>
                  </a:tcPr>
                </a:tc>
                <a:tc>
                  <a:txBody>
                    <a:bodyPr/>
                    <a:lstStyle/>
                    <a:p>
                      <a:r>
                        <a:rPr sz="1500" b="0">
                          <a:solidFill>
                            <a:srgbClr val="1C2230"/>
                          </a:solidFill>
                          <a:latin typeface="Arial"/>
                        </a:rPr>
                        <a:t>Availability removed; 'can't' answer; FAILED ending</a:t>
                      </a:r>
                    </a:p>
                  </a:txBody>
                  <a:tcPr>
                    <a:solidFill>
                      <a:srgbClr val="FFFFFF"/>
                    </a:solidFill>
                  </a:tcPr>
                </a:tc>
              </a:tr>
              <a:tr h="700000">
                <a:tc>
                  <a:txBody>
                    <a:bodyPr/>
                    <a:lstStyle/>
                    <a:p>
                      <a:r>
                        <a:rPr sz="1400" b="1">
                          <a:solidFill>
                            <a:srgbClr val="1C2230"/>
                          </a:solidFill>
                          <a:latin typeface="Courier New"/>
                        </a:rPr>
                        <a:t>v7</a:t>
                      </a:r>
                    </a:p>
                  </a:txBody>
                  <a:tcPr>
                    <a:solidFill>
                      <a:srgbClr val="F4F6F9"/>
                    </a:solidFill>
                  </a:tcPr>
                </a:tc>
                <a:tc>
                  <a:txBody>
                    <a:bodyPr/>
                    <a:lstStyle/>
                    <a:p>
                      <a:r>
                        <a:rPr sz="1500" b="0">
                          <a:solidFill>
                            <a:srgbClr val="1C2230"/>
                          </a:solidFill>
                          <a:latin typeface="Arial"/>
                        </a:rPr>
                        <a:t>Owner request: history and automatic payroll</a:t>
                      </a:r>
                    </a:p>
                  </a:txBody>
                  <a:tcPr>
                    <a:solidFill>
                      <a:srgbClr val="FFFFFF"/>
                    </a:solidFill>
                  </a:tcPr>
                </a:tc>
                <a:tc>
                  <a:txBody>
                    <a:bodyPr/>
                    <a:lstStyle/>
                    <a:p>
                      <a:r>
                        <a:rPr sz="1500" b="0">
                          <a:solidFill>
                            <a:srgbClr val="1C2230"/>
                          </a:solidFill>
                          <a:latin typeface="Arial"/>
                        </a:rPr>
                        <a:t>Contract history seeded; last month's draft on the 1st</a:t>
                      </a:r>
                    </a:p>
                  </a:txBody>
                  <a:tcPr>
                    <a:solidFill>
                      <a:srgbClr val="FFFFFF"/>
                    </a:solidFill>
                  </a:tcPr>
                </a:tc>
              </a:tr>
              <a:tr h="700000">
                <a:tc>
                  <a:txBody>
                    <a:bodyPr/>
                    <a:lstStyle/>
                    <a:p>
                      <a:r>
                        <a:rPr sz="1400" b="1">
                          <a:solidFill>
                            <a:srgbClr val="1C2230"/>
                          </a:solidFill>
                          <a:latin typeface="Courier New"/>
                        </a:rPr>
                        <a:t>v8</a:t>
                      </a:r>
                    </a:p>
                  </a:txBody>
                  <a:tcPr>
                    <a:solidFill>
                      <a:srgbClr val="F4F6F9"/>
                    </a:solidFill>
                  </a:tcPr>
                </a:tc>
                <a:tc>
                  <a:txBody>
                    <a:bodyPr/>
                    <a:lstStyle/>
                    <a:p>
                      <a:r>
                        <a:rPr sz="1500" b="0">
                          <a:solidFill>
                            <a:srgbClr val="1C2230"/>
                          </a:solidFill>
                          <a:latin typeface="Arial"/>
                        </a:rPr>
                        <a:t>Proposal revision: shared data, part-time law</a:t>
                      </a:r>
                    </a:p>
                  </a:txBody>
                  <a:tcPr>
                    <a:solidFill>
                      <a:srgbClr val="FFFFFF"/>
                    </a:solidFill>
                  </a:tcPr>
                </a:tc>
                <a:tc>
                  <a:txBody>
                    <a:bodyPr/>
                    <a:lstStyle/>
                    <a:p>
                      <a:r>
                        <a:rPr sz="1500" b="0">
                          <a:solidFill>
                            <a:srgbClr val="1C2230"/>
                          </a:solidFill>
                          <a:latin typeface="Arial"/>
                        </a:rPr>
                        <a:t>Shared database with local fallback; part-time overtime and 12 h warning</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0000" cy="6858000"/>
          </a:xfrm>
          <a:prstGeom prst="rect">
            <a:avLst/>
          </a:prstGeom>
          <a:solidFill>
            <a:srgbClr val="1C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00" y="430000"/>
            <a:ext cx="10912000" cy="700000"/>
          </a:xfrm>
          <a:prstGeom prst="rect">
            <a:avLst/>
          </a:prstGeom>
          <a:noFill/>
        </p:spPr>
        <p:txBody>
          <a:bodyPr wrap="square">
            <a:spAutoFit/>
          </a:bodyPr>
          <a:lstStyle/>
          <a:p>
            <a:pPr algn="l">
              <a:spcAft>
                <a:spcPts val="1500"/>
              </a:spcAft>
            </a:pPr>
            <a:r>
              <a:rPr sz="3000" b="1">
                <a:solidFill>
                  <a:srgbClr val="1C2230"/>
                </a:solidFill>
                <a:latin typeface="Arial"/>
              </a:rPr>
              <a:t>Demo: the request comes to you</a:t>
            </a:r>
          </a:p>
        </p:txBody>
      </p:sp>
      <p:sp>
        <p:nvSpPr>
          <p:cNvPr id="4" name="TextBox 3"/>
          <p:cNvSpPr txBox="1"/>
          <p:nvPr/>
        </p:nvSpPr>
        <p:spPr>
          <a:xfrm>
            <a:off x="640000" y="6338000"/>
            <a:ext cx="10912000" cy="300000"/>
          </a:xfrm>
          <a:prstGeom prst="rect">
            <a:avLst/>
          </a:prstGeom>
          <a:noFill/>
        </p:spPr>
        <p:txBody>
          <a:bodyPr wrap="square">
            <a:spAutoFit/>
          </a:bodyPr>
          <a:lstStyle/>
          <a:p>
            <a:pPr algn="l">
              <a:spcAft>
                <a:spcPts val="550"/>
              </a:spcAft>
            </a:pPr>
            <a:r>
              <a:rPr sz="1100" b="0">
                <a:solidFill>
                  <a:srgbClr val="4A5163"/>
                </a:solidFill>
                <a:latin typeface="Arial"/>
              </a:rPr>
              <a:t>12 / 16   ·   Minkyung Kim</a:t>
            </a:r>
          </a:p>
        </p:txBody>
      </p:sp>
      <p:pic>
        <p:nvPicPr>
          <p:cNvPr id="5" name="Picture 4" descr="ui-05-inbox.png"/>
          <p:cNvPicPr>
            <a:picLocks noChangeAspect="1"/>
          </p:cNvPicPr>
          <p:nvPr/>
        </p:nvPicPr>
        <p:blipFill>
          <a:blip r:embed="rId2"/>
          <a:stretch>
            <a:fillRect/>
          </a:stretch>
        </p:blipFill>
        <p:spPr>
          <a:xfrm>
            <a:off x="5487337" y="1250000"/>
            <a:ext cx="1217325" cy="4450000"/>
          </a:xfrm>
          <a:prstGeom prst="rect">
            <a:avLst/>
          </a:prstGeom>
        </p:spPr>
      </p:pic>
      <p:sp>
        <p:nvSpPr>
          <p:cNvPr id="6" name="TextBox 5"/>
          <p:cNvSpPr txBox="1"/>
          <p:nvPr/>
        </p:nvSpPr>
        <p:spPr>
          <a:xfrm>
            <a:off x="640000" y="5750000"/>
            <a:ext cx="10912000" cy="400000"/>
          </a:xfrm>
          <a:prstGeom prst="rect">
            <a:avLst/>
          </a:prstGeom>
          <a:noFill/>
        </p:spPr>
        <p:txBody>
          <a:bodyPr wrap="square">
            <a:spAutoFit/>
          </a:bodyPr>
          <a:lstStyle/>
          <a:p>
            <a:pPr algn="l">
              <a:spcAft>
                <a:spcPts val="650"/>
              </a:spcAft>
            </a:pPr>
            <a:r>
              <a:rPr sz="1300" b="0">
                <a:solidFill>
                  <a:srgbClr val="4A5163"/>
                </a:solidFill>
                <a:latin typeface="Arial"/>
              </a:rPr>
              <a:t>Minho's Home: the request card shows the effect on his week before he taps Accept (one tap, NFR-01)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0000" cy="6858000"/>
          </a:xfrm>
          <a:prstGeom prst="rect">
            <a:avLst/>
          </a:prstGeom>
          <a:solidFill>
            <a:srgbClr val="1C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00" y="430000"/>
            <a:ext cx="10912000" cy="700000"/>
          </a:xfrm>
          <a:prstGeom prst="rect">
            <a:avLst/>
          </a:prstGeom>
          <a:noFill/>
        </p:spPr>
        <p:txBody>
          <a:bodyPr wrap="square">
            <a:spAutoFit/>
          </a:bodyPr>
          <a:lstStyle/>
          <a:p>
            <a:pPr algn="l">
              <a:spcAft>
                <a:spcPts val="1500"/>
              </a:spcAft>
            </a:pPr>
            <a:r>
              <a:rPr sz="3000" b="1">
                <a:solidFill>
                  <a:srgbClr val="1C2230"/>
                </a:solidFill>
                <a:latin typeface="Arial"/>
              </a:rPr>
              <a:t>The owner decides on one card</a:t>
            </a:r>
          </a:p>
        </p:txBody>
      </p:sp>
      <p:sp>
        <p:nvSpPr>
          <p:cNvPr id="4" name="TextBox 3"/>
          <p:cNvSpPr txBox="1"/>
          <p:nvPr/>
        </p:nvSpPr>
        <p:spPr>
          <a:xfrm>
            <a:off x="640000" y="6338000"/>
            <a:ext cx="10912000" cy="300000"/>
          </a:xfrm>
          <a:prstGeom prst="rect">
            <a:avLst/>
          </a:prstGeom>
          <a:noFill/>
        </p:spPr>
        <p:txBody>
          <a:bodyPr wrap="square">
            <a:spAutoFit/>
          </a:bodyPr>
          <a:lstStyle/>
          <a:p>
            <a:pPr algn="l">
              <a:spcAft>
                <a:spcPts val="550"/>
              </a:spcAft>
            </a:pPr>
            <a:r>
              <a:rPr sz="1100" b="0">
                <a:solidFill>
                  <a:srgbClr val="4A5163"/>
                </a:solidFill>
                <a:latin typeface="Arial"/>
              </a:rPr>
              <a:t>13 / 16   ·   Minkyung Kim</a:t>
            </a:r>
          </a:p>
        </p:txBody>
      </p:sp>
      <p:pic>
        <p:nvPicPr>
          <p:cNvPr id="5" name="Picture 4" descr="ui-06-approval.png"/>
          <p:cNvPicPr>
            <a:picLocks noChangeAspect="1"/>
          </p:cNvPicPr>
          <p:nvPr/>
        </p:nvPicPr>
        <p:blipFill>
          <a:blip r:embed="rId2"/>
          <a:stretch>
            <a:fillRect/>
          </a:stretch>
        </p:blipFill>
        <p:spPr>
          <a:xfrm>
            <a:off x="2931556" y="1250000"/>
            <a:ext cx="6328888" cy="4450000"/>
          </a:xfrm>
          <a:prstGeom prst="rect">
            <a:avLst/>
          </a:prstGeom>
        </p:spPr>
      </p:pic>
      <p:sp>
        <p:nvSpPr>
          <p:cNvPr id="6" name="TextBox 5"/>
          <p:cNvSpPr txBox="1"/>
          <p:nvPr/>
        </p:nvSpPr>
        <p:spPr>
          <a:xfrm>
            <a:off x="640000" y="5750000"/>
            <a:ext cx="10912000" cy="400000"/>
          </a:xfrm>
          <a:prstGeom prst="rect">
            <a:avLst/>
          </a:prstGeom>
          <a:noFill/>
        </p:spPr>
        <p:txBody>
          <a:bodyPr wrap="square">
            <a:spAutoFit/>
          </a:bodyPr>
          <a:lstStyle/>
          <a:p>
            <a:pPr algn="l">
              <a:spcAft>
                <a:spcPts val="650"/>
              </a:spcAft>
            </a:pPr>
            <a:r>
              <a:rPr sz="1300" b="0">
                <a:solidFill>
                  <a:srgbClr val="4A5163"/>
                </a:solidFill>
                <a:latin typeface="Arial"/>
              </a:rPr>
              <a:t>Owner Home: '1 thing to handle today' — the swap, its effect on both workers, and one Approve button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0000" cy="6858000"/>
          </a:xfrm>
          <a:prstGeom prst="rect">
            <a:avLst/>
          </a:prstGeom>
          <a:solidFill>
            <a:srgbClr val="1C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00" y="430000"/>
            <a:ext cx="10912000" cy="700000"/>
          </a:xfrm>
          <a:prstGeom prst="rect">
            <a:avLst/>
          </a:prstGeom>
          <a:noFill/>
        </p:spPr>
        <p:txBody>
          <a:bodyPr wrap="square">
            <a:spAutoFit/>
          </a:bodyPr>
          <a:lstStyle/>
          <a:p>
            <a:pPr algn="l">
              <a:spcAft>
                <a:spcPts val="1500"/>
              </a:spcAft>
            </a:pPr>
            <a:r>
              <a:rPr sz="3000" b="1">
                <a:solidFill>
                  <a:srgbClr val="1C2230"/>
                </a:solidFill>
                <a:latin typeface="Arial"/>
              </a:rPr>
              <a:t>Month end: payroll prepares itself</a:t>
            </a:r>
          </a:p>
        </p:txBody>
      </p:sp>
      <p:sp>
        <p:nvSpPr>
          <p:cNvPr id="4" name="TextBox 3"/>
          <p:cNvSpPr txBox="1"/>
          <p:nvPr/>
        </p:nvSpPr>
        <p:spPr>
          <a:xfrm>
            <a:off x="640000" y="6338000"/>
            <a:ext cx="10912000" cy="300000"/>
          </a:xfrm>
          <a:prstGeom prst="rect">
            <a:avLst/>
          </a:prstGeom>
          <a:noFill/>
        </p:spPr>
        <p:txBody>
          <a:bodyPr wrap="square">
            <a:spAutoFit/>
          </a:bodyPr>
          <a:lstStyle/>
          <a:p>
            <a:pPr algn="l">
              <a:spcAft>
                <a:spcPts val="550"/>
              </a:spcAft>
            </a:pPr>
            <a:r>
              <a:rPr sz="1100" b="0">
                <a:solidFill>
                  <a:srgbClr val="4A5163"/>
                </a:solidFill>
                <a:latin typeface="Arial"/>
              </a:rPr>
              <a:t>14 / 16   ·   Minkyung Kim</a:t>
            </a:r>
          </a:p>
        </p:txBody>
      </p:sp>
      <p:pic>
        <p:nvPicPr>
          <p:cNvPr id="5" name="Picture 4" descr="ui-10-payroll.png"/>
          <p:cNvPicPr>
            <a:picLocks noChangeAspect="1"/>
          </p:cNvPicPr>
          <p:nvPr/>
        </p:nvPicPr>
        <p:blipFill>
          <a:blip r:embed="rId2"/>
          <a:stretch>
            <a:fillRect/>
          </a:stretch>
        </p:blipFill>
        <p:spPr>
          <a:xfrm>
            <a:off x="3192840" y="1250000"/>
            <a:ext cx="5806320" cy="4450000"/>
          </a:xfrm>
          <a:prstGeom prst="rect">
            <a:avLst/>
          </a:prstGeom>
        </p:spPr>
      </p:pic>
      <p:sp>
        <p:nvSpPr>
          <p:cNvPr id="6" name="TextBox 5"/>
          <p:cNvSpPr txBox="1"/>
          <p:nvPr/>
        </p:nvSpPr>
        <p:spPr>
          <a:xfrm>
            <a:off x="640000" y="5750000"/>
            <a:ext cx="10912000" cy="400000"/>
          </a:xfrm>
          <a:prstGeom prst="rect">
            <a:avLst/>
          </a:prstGeom>
          <a:noFill/>
        </p:spPr>
        <p:txBody>
          <a:bodyPr wrap="square">
            <a:spAutoFit/>
          </a:bodyPr>
          <a:lstStyle/>
          <a:p>
            <a:pPr algn="l">
              <a:spcAft>
                <a:spcPts val="650"/>
              </a:spcAft>
            </a:pPr>
            <a:r>
              <a:rPr sz="1300" b="0">
                <a:solidFill>
                  <a:srgbClr val="4A5163"/>
                </a:solidFill>
                <a:latin typeface="Arial"/>
              </a:rPr>
              <a:t>Doyun's wage is below the 2026 minimum: 'Confirm September pay' stays disabled, with the reason, until acknowledged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0000" cy="6858000"/>
          </a:xfrm>
          <a:prstGeom prst="rect">
            <a:avLst/>
          </a:prstGeom>
          <a:solidFill>
            <a:srgbClr val="1C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00" y="430000"/>
            <a:ext cx="10912000" cy="700000"/>
          </a:xfrm>
          <a:prstGeom prst="rect">
            <a:avLst/>
          </a:prstGeom>
          <a:noFill/>
        </p:spPr>
        <p:txBody>
          <a:bodyPr wrap="square">
            <a:spAutoFit/>
          </a:bodyPr>
          <a:lstStyle/>
          <a:p>
            <a:pPr algn="l">
              <a:spcAft>
                <a:spcPts val="1500"/>
              </a:spcAft>
            </a:pPr>
            <a:r>
              <a:rPr sz="3000" b="1">
                <a:solidFill>
                  <a:srgbClr val="1C2230"/>
                </a:solidFill>
                <a:latin typeface="Arial"/>
              </a:rPr>
              <a:t>Testing</a:t>
            </a:r>
          </a:p>
        </p:txBody>
      </p:sp>
      <p:sp>
        <p:nvSpPr>
          <p:cNvPr id="4" name="TextBox 3"/>
          <p:cNvSpPr txBox="1"/>
          <p:nvPr/>
        </p:nvSpPr>
        <p:spPr>
          <a:xfrm>
            <a:off x="640000" y="6338000"/>
            <a:ext cx="10912000" cy="300000"/>
          </a:xfrm>
          <a:prstGeom prst="rect">
            <a:avLst/>
          </a:prstGeom>
          <a:noFill/>
        </p:spPr>
        <p:txBody>
          <a:bodyPr wrap="square">
            <a:spAutoFit/>
          </a:bodyPr>
          <a:lstStyle/>
          <a:p>
            <a:pPr algn="l">
              <a:spcAft>
                <a:spcPts val="550"/>
              </a:spcAft>
            </a:pPr>
            <a:r>
              <a:rPr sz="1100" b="0">
                <a:solidFill>
                  <a:srgbClr val="4A5163"/>
                </a:solidFill>
                <a:latin typeface="Arial"/>
              </a:rPr>
              <a:t>15 / 16   ·   Minkyung Kim</a:t>
            </a:r>
          </a:p>
        </p:txBody>
      </p:sp>
      <p:sp>
        <p:nvSpPr>
          <p:cNvPr id="5" name="TextBox 4"/>
          <p:cNvSpPr txBox="1"/>
          <p:nvPr/>
        </p:nvSpPr>
        <p:spPr>
          <a:xfrm>
            <a:off x="640000" y="1450000"/>
            <a:ext cx="3437333" cy="900000"/>
          </a:xfrm>
          <a:prstGeom prst="rect">
            <a:avLst/>
          </a:prstGeom>
          <a:noFill/>
        </p:spPr>
        <p:txBody>
          <a:bodyPr wrap="square">
            <a:spAutoFit/>
          </a:bodyPr>
          <a:lstStyle/>
          <a:p>
            <a:pPr algn="l">
              <a:spcAft>
                <a:spcPts val="2400"/>
              </a:spcAft>
            </a:pPr>
            <a:r>
              <a:rPr sz="4800" b="1">
                <a:solidFill>
                  <a:srgbClr val="2B5BD7"/>
                </a:solidFill>
                <a:latin typeface="Arial"/>
              </a:rPr>
              <a:t>125/125</a:t>
            </a:r>
          </a:p>
        </p:txBody>
      </p:sp>
      <p:sp>
        <p:nvSpPr>
          <p:cNvPr id="6" name="TextBox 5"/>
          <p:cNvSpPr txBox="1"/>
          <p:nvPr/>
        </p:nvSpPr>
        <p:spPr>
          <a:xfrm>
            <a:off x="640000" y="2350000"/>
            <a:ext cx="3437333" cy="400000"/>
          </a:xfrm>
          <a:prstGeom prst="rect">
            <a:avLst/>
          </a:prstGeom>
          <a:noFill/>
        </p:spPr>
        <p:txBody>
          <a:bodyPr wrap="square">
            <a:spAutoFit/>
          </a:bodyPr>
          <a:lstStyle/>
          <a:p>
            <a:pPr algn="l">
              <a:spcAft>
                <a:spcPts val="900"/>
              </a:spcAft>
            </a:pPr>
            <a:r>
              <a:rPr sz="1800" b="1">
                <a:solidFill>
                  <a:srgbClr val="1C2230"/>
                </a:solidFill>
                <a:latin typeface="Arial"/>
              </a:rPr>
              <a:t>tests pass</a:t>
            </a:r>
          </a:p>
        </p:txBody>
      </p:sp>
      <p:sp>
        <p:nvSpPr>
          <p:cNvPr id="7" name="TextBox 6"/>
          <p:cNvSpPr txBox="1"/>
          <p:nvPr/>
        </p:nvSpPr>
        <p:spPr>
          <a:xfrm>
            <a:off x="640000" y="2750000"/>
            <a:ext cx="3437333" cy="500000"/>
          </a:xfrm>
          <a:prstGeom prst="rect">
            <a:avLst/>
          </a:prstGeom>
          <a:noFill/>
        </p:spPr>
        <p:txBody>
          <a:bodyPr wrap="square">
            <a:spAutoFit/>
          </a:bodyPr>
          <a:lstStyle/>
          <a:p>
            <a:pPr algn="l">
              <a:spcAft>
                <a:spcPts val="650"/>
              </a:spcAft>
            </a:pPr>
            <a:r>
              <a:rPr sz="1300" b="0">
                <a:solidFill>
                  <a:srgbClr val="4A5163"/>
                </a:solidFill>
                <a:latin typeface="Arial"/>
              </a:rPr>
              <a:t>npm test, Node test runner</a:t>
            </a:r>
          </a:p>
        </p:txBody>
      </p:sp>
      <p:sp>
        <p:nvSpPr>
          <p:cNvPr id="8" name="TextBox 7"/>
          <p:cNvSpPr txBox="1"/>
          <p:nvPr/>
        </p:nvSpPr>
        <p:spPr>
          <a:xfrm>
            <a:off x="4277333" y="1450000"/>
            <a:ext cx="3437333" cy="900000"/>
          </a:xfrm>
          <a:prstGeom prst="rect">
            <a:avLst/>
          </a:prstGeom>
          <a:noFill/>
        </p:spPr>
        <p:txBody>
          <a:bodyPr wrap="square">
            <a:spAutoFit/>
          </a:bodyPr>
          <a:lstStyle/>
          <a:p>
            <a:pPr algn="l">
              <a:spcAft>
                <a:spcPts val="2400"/>
              </a:spcAft>
            </a:pPr>
            <a:r>
              <a:rPr sz="4800" b="1">
                <a:solidFill>
                  <a:srgbClr val="2B5BD7"/>
                </a:solidFill>
                <a:latin typeface="Arial"/>
              </a:rPr>
              <a:t>15/15</a:t>
            </a:r>
          </a:p>
        </p:txBody>
      </p:sp>
      <p:sp>
        <p:nvSpPr>
          <p:cNvPr id="9" name="TextBox 8"/>
          <p:cNvSpPr txBox="1"/>
          <p:nvPr/>
        </p:nvSpPr>
        <p:spPr>
          <a:xfrm>
            <a:off x="4277333" y="2350000"/>
            <a:ext cx="3437333" cy="400000"/>
          </a:xfrm>
          <a:prstGeom prst="rect">
            <a:avLst/>
          </a:prstGeom>
          <a:noFill/>
        </p:spPr>
        <p:txBody>
          <a:bodyPr wrap="square">
            <a:spAutoFit/>
          </a:bodyPr>
          <a:lstStyle/>
          <a:p>
            <a:pPr algn="l">
              <a:spcAft>
                <a:spcPts val="900"/>
              </a:spcAft>
            </a:pPr>
            <a:r>
              <a:rPr sz="1800" b="1">
                <a:solidFill>
                  <a:srgbClr val="1C2230"/>
                </a:solidFill>
                <a:latin typeface="Arial"/>
              </a:rPr>
              <a:t>business rules tested</a:t>
            </a:r>
          </a:p>
        </p:txBody>
      </p:sp>
      <p:sp>
        <p:nvSpPr>
          <p:cNvPr id="10" name="TextBox 9"/>
          <p:cNvSpPr txBox="1"/>
          <p:nvPr/>
        </p:nvSpPr>
        <p:spPr>
          <a:xfrm>
            <a:off x="4277333" y="2750000"/>
            <a:ext cx="3437333" cy="500000"/>
          </a:xfrm>
          <a:prstGeom prst="rect">
            <a:avLst/>
          </a:prstGeom>
          <a:noFill/>
        </p:spPr>
        <p:txBody>
          <a:bodyPr wrap="square">
            <a:spAutoFit/>
          </a:bodyPr>
          <a:lstStyle/>
          <a:p>
            <a:pPr algn="l">
              <a:spcAft>
                <a:spcPts val="650"/>
              </a:spcAft>
            </a:pPr>
            <a:r>
              <a:rPr sz="1300" b="0">
                <a:solidFill>
                  <a:srgbClr val="4A5163"/>
                </a:solidFill>
                <a:latin typeface="Arial"/>
              </a:rPr>
              <a:t>every BR has ≥ 1 test</a:t>
            </a:r>
          </a:p>
        </p:txBody>
      </p:sp>
      <p:sp>
        <p:nvSpPr>
          <p:cNvPr id="11" name="TextBox 10"/>
          <p:cNvSpPr txBox="1"/>
          <p:nvPr/>
        </p:nvSpPr>
        <p:spPr>
          <a:xfrm>
            <a:off x="7914666" y="1450000"/>
            <a:ext cx="3437333" cy="900000"/>
          </a:xfrm>
          <a:prstGeom prst="rect">
            <a:avLst/>
          </a:prstGeom>
          <a:noFill/>
        </p:spPr>
        <p:txBody>
          <a:bodyPr wrap="square">
            <a:spAutoFit/>
          </a:bodyPr>
          <a:lstStyle/>
          <a:p>
            <a:pPr algn="l">
              <a:spcAft>
                <a:spcPts val="2400"/>
              </a:spcAft>
            </a:pPr>
            <a:r>
              <a:rPr sz="4800" b="1">
                <a:solidFill>
                  <a:srgbClr val="2B5BD7"/>
                </a:solidFill>
                <a:latin typeface="Arial"/>
              </a:rPr>
              <a:t>113/113</a:t>
            </a:r>
          </a:p>
        </p:txBody>
      </p:sp>
      <p:sp>
        <p:nvSpPr>
          <p:cNvPr id="12" name="TextBox 11"/>
          <p:cNvSpPr txBox="1"/>
          <p:nvPr/>
        </p:nvSpPr>
        <p:spPr>
          <a:xfrm>
            <a:off x="7914666" y="2350000"/>
            <a:ext cx="3437333" cy="400000"/>
          </a:xfrm>
          <a:prstGeom prst="rect">
            <a:avLst/>
          </a:prstGeom>
          <a:noFill/>
        </p:spPr>
        <p:txBody>
          <a:bodyPr wrap="square">
            <a:spAutoFit/>
          </a:bodyPr>
          <a:lstStyle/>
          <a:p>
            <a:pPr algn="l">
              <a:spcAft>
                <a:spcPts val="900"/>
              </a:spcAft>
            </a:pPr>
            <a:r>
              <a:rPr sz="1800" b="1">
                <a:solidFill>
                  <a:srgbClr val="1C2230"/>
                </a:solidFill>
                <a:latin typeface="Arial"/>
              </a:rPr>
              <a:t>tests pass in a clean rebuild</a:t>
            </a:r>
          </a:p>
        </p:txBody>
      </p:sp>
      <p:sp>
        <p:nvSpPr>
          <p:cNvPr id="13" name="TextBox 12"/>
          <p:cNvSpPr txBox="1"/>
          <p:nvPr/>
        </p:nvSpPr>
        <p:spPr>
          <a:xfrm>
            <a:off x="7914666" y="2750000"/>
            <a:ext cx="3437333" cy="500000"/>
          </a:xfrm>
          <a:prstGeom prst="rect">
            <a:avLst/>
          </a:prstGeom>
          <a:noFill/>
        </p:spPr>
        <p:txBody>
          <a:bodyPr wrap="square">
            <a:spAutoFit/>
          </a:bodyPr>
          <a:lstStyle/>
          <a:p>
            <a:pPr algn="l">
              <a:spcAft>
                <a:spcPts val="650"/>
              </a:spcAft>
            </a:pPr>
            <a:r>
              <a:rPr sz="1300" b="0">
                <a:solidFill>
                  <a:srgbClr val="4A5163"/>
                </a:solidFill>
                <a:latin typeface="Arial"/>
              </a:rPr>
              <a:t>final prompt v8 re-run in an empty folder</a:t>
            </a:r>
          </a:p>
        </p:txBody>
      </p:sp>
      <p:sp>
        <p:nvSpPr>
          <p:cNvPr id="14" name="TextBox 13"/>
          <p:cNvSpPr txBox="1"/>
          <p:nvPr/>
        </p:nvSpPr>
        <p:spPr>
          <a:xfrm>
            <a:off x="640000" y="3450000"/>
            <a:ext cx="3437333" cy="900000"/>
          </a:xfrm>
          <a:prstGeom prst="rect">
            <a:avLst/>
          </a:prstGeom>
          <a:noFill/>
        </p:spPr>
        <p:txBody>
          <a:bodyPr wrap="square">
            <a:spAutoFit/>
          </a:bodyPr>
          <a:lstStyle/>
          <a:p>
            <a:pPr algn="l">
              <a:spcAft>
                <a:spcPts val="2400"/>
              </a:spcAft>
            </a:pPr>
            <a:r>
              <a:rPr sz="4800" b="1">
                <a:solidFill>
                  <a:srgbClr val="2B5BD7"/>
                </a:solidFill>
                <a:latin typeface="Arial"/>
              </a:rPr>
              <a:t>23/23</a:t>
            </a:r>
          </a:p>
        </p:txBody>
      </p:sp>
      <p:sp>
        <p:nvSpPr>
          <p:cNvPr id="15" name="TextBox 14"/>
          <p:cNvSpPr txBox="1"/>
          <p:nvPr/>
        </p:nvSpPr>
        <p:spPr>
          <a:xfrm>
            <a:off x="640000" y="4350000"/>
            <a:ext cx="3437333" cy="400000"/>
          </a:xfrm>
          <a:prstGeom prst="rect">
            <a:avLst/>
          </a:prstGeom>
          <a:noFill/>
        </p:spPr>
        <p:txBody>
          <a:bodyPr wrap="square">
            <a:spAutoFit/>
          </a:bodyPr>
          <a:lstStyle/>
          <a:p>
            <a:pPr algn="l">
              <a:spcAft>
                <a:spcPts val="900"/>
              </a:spcAft>
            </a:pPr>
            <a:r>
              <a:rPr sz="1800" b="1">
                <a:solidFill>
                  <a:srgbClr val="1C2230"/>
                </a:solidFill>
                <a:latin typeface="Arial"/>
              </a:rPr>
              <a:t>FRs traced</a:t>
            </a:r>
          </a:p>
        </p:txBody>
      </p:sp>
      <p:sp>
        <p:nvSpPr>
          <p:cNvPr id="16" name="TextBox 15"/>
          <p:cNvSpPr txBox="1"/>
          <p:nvPr/>
        </p:nvSpPr>
        <p:spPr>
          <a:xfrm>
            <a:off x="640000" y="4750000"/>
            <a:ext cx="3437333" cy="500000"/>
          </a:xfrm>
          <a:prstGeom prst="rect">
            <a:avLst/>
          </a:prstGeom>
          <a:noFill/>
        </p:spPr>
        <p:txBody>
          <a:bodyPr wrap="square">
            <a:spAutoFit/>
          </a:bodyPr>
          <a:lstStyle/>
          <a:p>
            <a:pPr algn="l">
              <a:spcAft>
                <a:spcPts val="650"/>
              </a:spcAft>
            </a:pPr>
            <a:r>
              <a:rPr sz="1300" b="0">
                <a:solidFill>
                  <a:srgbClr val="4A5163"/>
                </a:solidFill>
                <a:latin typeface="Arial"/>
              </a:rPr>
              <a:t>FR → UC → screen → function → test</a:t>
            </a:r>
          </a:p>
        </p:txBody>
      </p:sp>
      <p:sp>
        <p:nvSpPr>
          <p:cNvPr id="17" name="TextBox 16"/>
          <p:cNvSpPr txBox="1"/>
          <p:nvPr/>
        </p:nvSpPr>
        <p:spPr>
          <a:xfrm>
            <a:off x="4277333" y="3450000"/>
            <a:ext cx="3437333" cy="900000"/>
          </a:xfrm>
          <a:prstGeom prst="rect">
            <a:avLst/>
          </a:prstGeom>
          <a:noFill/>
        </p:spPr>
        <p:txBody>
          <a:bodyPr wrap="square">
            <a:spAutoFit/>
          </a:bodyPr>
          <a:lstStyle/>
          <a:p>
            <a:pPr algn="l">
              <a:spcAft>
                <a:spcPts val="2400"/>
              </a:spcAft>
            </a:pPr>
            <a:r>
              <a:rPr sz="4800" b="1">
                <a:solidFill>
                  <a:srgbClr val="2B5BD7"/>
                </a:solidFill>
                <a:latin typeface="Arial"/>
              </a:rPr>
              <a:t>2</a:t>
            </a:r>
          </a:p>
        </p:txBody>
      </p:sp>
      <p:sp>
        <p:nvSpPr>
          <p:cNvPr id="18" name="TextBox 17"/>
          <p:cNvSpPr txBox="1"/>
          <p:nvPr/>
        </p:nvSpPr>
        <p:spPr>
          <a:xfrm>
            <a:off x="4277333" y="4350000"/>
            <a:ext cx="3437333" cy="400000"/>
          </a:xfrm>
          <a:prstGeom prst="rect">
            <a:avLst/>
          </a:prstGeom>
          <a:noFill/>
        </p:spPr>
        <p:txBody>
          <a:bodyPr wrap="square">
            <a:spAutoFit/>
          </a:bodyPr>
          <a:lstStyle/>
          <a:p>
            <a:pPr algn="l">
              <a:spcAft>
                <a:spcPts val="900"/>
              </a:spcAft>
            </a:pPr>
            <a:r>
              <a:rPr sz="1800" b="1">
                <a:solidFill>
                  <a:srgbClr val="1C2230"/>
                </a:solidFill>
                <a:latin typeface="Arial"/>
              </a:rPr>
              <a:t>browsers at once</a:t>
            </a:r>
          </a:p>
        </p:txBody>
      </p:sp>
      <p:sp>
        <p:nvSpPr>
          <p:cNvPr id="19" name="TextBox 18"/>
          <p:cNvSpPr txBox="1"/>
          <p:nvPr/>
        </p:nvSpPr>
        <p:spPr>
          <a:xfrm>
            <a:off x="4277333" y="4750000"/>
            <a:ext cx="3437333" cy="500000"/>
          </a:xfrm>
          <a:prstGeom prst="rect">
            <a:avLst/>
          </a:prstGeom>
          <a:noFill/>
        </p:spPr>
        <p:txBody>
          <a:bodyPr wrap="square">
            <a:spAutoFit/>
          </a:bodyPr>
          <a:lstStyle/>
          <a:p>
            <a:pPr algn="l">
              <a:spcAft>
                <a:spcPts val="650"/>
              </a:spcAft>
            </a:pPr>
            <a:r>
              <a:rPr sz="1300" b="0">
                <a:solidFill>
                  <a:srgbClr val="4A5163"/>
                </a:solidFill>
                <a:latin typeface="Arial"/>
              </a:rPr>
              <a:t>shared database: one acceptance wins (12/12 checks)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0000" cy="6858000"/>
          </a:xfrm>
          <a:prstGeom prst="rect">
            <a:avLst/>
          </a:prstGeom>
          <a:solidFill>
            <a:srgbClr val="1C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00" y="430000"/>
            <a:ext cx="10912000" cy="700000"/>
          </a:xfrm>
          <a:prstGeom prst="rect">
            <a:avLst/>
          </a:prstGeom>
          <a:noFill/>
        </p:spPr>
        <p:txBody>
          <a:bodyPr wrap="square">
            <a:spAutoFit/>
          </a:bodyPr>
          <a:lstStyle/>
          <a:p>
            <a:pPr algn="l">
              <a:spcAft>
                <a:spcPts val="1500"/>
              </a:spcAft>
            </a:pPr>
            <a:r>
              <a:rPr sz="3000" b="1">
                <a:solidFill>
                  <a:srgbClr val="1C2230"/>
                </a:solidFill>
                <a:latin typeface="Arial"/>
              </a:rPr>
              <a:t>Results and limits</a:t>
            </a:r>
          </a:p>
        </p:txBody>
      </p:sp>
      <p:sp>
        <p:nvSpPr>
          <p:cNvPr id="4" name="TextBox 3"/>
          <p:cNvSpPr txBox="1"/>
          <p:nvPr/>
        </p:nvSpPr>
        <p:spPr>
          <a:xfrm>
            <a:off x="640000" y="6338000"/>
            <a:ext cx="10912000" cy="300000"/>
          </a:xfrm>
          <a:prstGeom prst="rect">
            <a:avLst/>
          </a:prstGeom>
          <a:noFill/>
        </p:spPr>
        <p:txBody>
          <a:bodyPr wrap="square">
            <a:spAutoFit/>
          </a:bodyPr>
          <a:lstStyle/>
          <a:p>
            <a:pPr algn="l">
              <a:spcAft>
                <a:spcPts val="550"/>
              </a:spcAft>
            </a:pPr>
            <a:r>
              <a:rPr sz="1100" b="0">
                <a:solidFill>
                  <a:srgbClr val="4A5163"/>
                </a:solidFill>
                <a:latin typeface="Arial"/>
              </a:rPr>
              <a:t>16 / 16   ·   Minkyung Kim</a:t>
            </a:r>
          </a:p>
        </p:txBody>
      </p:sp>
      <p:graphicFrame>
        <p:nvGraphicFramePr>
          <p:cNvPr id="5" name="Table 4"/>
          <p:cNvGraphicFramePr>
            <a:graphicFrameLocks noGrp="1"/>
          </p:cNvGraphicFramePr>
          <p:nvPr/>
        </p:nvGraphicFramePr>
        <p:xfrm>
          <a:off x="640000" y="1450000"/>
          <a:ext cx="10912000" cy="2800000"/>
        </p:xfrm>
        <a:graphic>
          <a:graphicData uri="http://schemas.openxmlformats.org/drawingml/2006/table">
            <a:tbl>
              <a:tblPr firstRow="1" bandRow="1">
                <a:tableStyleId>{5C22544A-7EE6-4342-B048-85BDC9FD1C3A}</a:tableStyleId>
              </a:tblPr>
              <a:tblGrid>
                <a:gridCol w="1745920"/>
                <a:gridCol w="9166080"/>
              </a:tblGrid>
              <a:tr h="700000">
                <a:tc>
                  <a:txBody>
                    <a:bodyPr/>
                    <a:lstStyle/>
                    <a:p>
                      <a:r>
                        <a:rPr sz="1400" b="1">
                          <a:solidFill>
                            <a:srgbClr val="1C2230"/>
                          </a:solidFill>
                          <a:latin typeface="Courier New"/>
                        </a:rPr>
                        <a:t>Achieved</a:t>
                      </a:r>
                    </a:p>
                  </a:txBody>
                  <a:tcPr>
                    <a:solidFill>
                      <a:srgbClr val="F4F6F9"/>
                    </a:solidFill>
                  </a:tcPr>
                </a:tc>
                <a:tc>
                  <a:txBody>
                    <a:bodyPr/>
                    <a:lstStyle/>
                    <a:p>
                      <a:r>
                        <a:rPr sz="1500" b="0">
                          <a:solidFill>
                            <a:srgbClr val="1C2230"/>
                          </a:solidFill>
                          <a:latin typeface="Arial"/>
                        </a:rPr>
                        <a:t>0 owner contacts per request · 2-click accept · automatic recomputation for both workers · legal checks before payday</a:t>
                      </a:r>
                    </a:p>
                  </a:txBody>
                  <a:tcPr>
                    <a:solidFill>
                      <a:srgbClr val="FFFFFF"/>
                    </a:solidFill>
                  </a:tcPr>
                </a:tc>
              </a:tr>
              <a:tr h="700000">
                <a:tc>
                  <a:txBody>
                    <a:bodyPr/>
                    <a:lstStyle/>
                    <a:p>
                      <a:r>
                        <a:rPr sz="1400" b="1">
                          <a:solidFill>
                            <a:srgbClr val="1C2230"/>
                          </a:solidFill>
                          <a:latin typeface="Courier New"/>
                        </a:rPr>
                        <a:t>Size</a:t>
                      </a:r>
                    </a:p>
                  </a:txBody>
                  <a:tcPr>
                    <a:solidFill>
                      <a:srgbClr val="F4F6F9"/>
                    </a:solidFill>
                  </a:tcPr>
                </a:tc>
                <a:tc>
                  <a:txBody>
                    <a:bodyPr/>
                    <a:lstStyle/>
                    <a:p>
                      <a:r>
                        <a:rPr sz="1500" b="0">
                          <a:solidFill>
                            <a:srgbClr val="1C2230"/>
                          </a:solidFill>
                          <a:latin typeface="Arial"/>
                        </a:rPr>
                        <a:t>13 use cases · 11 tables · 6,298 lines of application code · 1,788 lines of tests</a:t>
                      </a:r>
                    </a:p>
                  </a:txBody>
                  <a:tcPr>
                    <a:solidFill>
                      <a:srgbClr val="FFFFFF"/>
                    </a:solidFill>
                  </a:tcPr>
                </a:tc>
              </a:tr>
              <a:tr h="700000">
                <a:tc>
                  <a:txBody>
                    <a:bodyPr/>
                    <a:lstStyle/>
                    <a:p>
                      <a:r>
                        <a:rPr sz="1400" b="1">
                          <a:solidFill>
                            <a:srgbClr val="1C2230"/>
                          </a:solidFill>
                          <a:latin typeface="Courier New"/>
                        </a:rPr>
                        <a:t>Limits</a:t>
                      </a:r>
                    </a:p>
                  </a:txBody>
                  <a:tcPr>
                    <a:solidFill>
                      <a:srgbClr val="F4F6F9"/>
                    </a:solidFill>
                  </a:tcPr>
                </a:tc>
                <a:tc>
                  <a:txBody>
                    <a:bodyPr/>
                    <a:lstStyle/>
                    <a:p>
                      <a:r>
                        <a:rPr sz="1500" b="0">
                          <a:solidFill>
                            <a:srgbClr val="1C2230"/>
                          </a:solidFill>
                          <a:latin typeface="Arial"/>
                        </a:rPr>
                        <a:t>Demo accounts without passwords, so identity is not enforced · no messaging outside the app</a:t>
                      </a:r>
                    </a:p>
                  </a:txBody>
                  <a:tcPr>
                    <a:solidFill>
                      <a:srgbClr val="FFFFFF"/>
                    </a:solidFill>
                  </a:tcPr>
                </a:tc>
              </a:tr>
              <a:tr h="700000">
                <a:tc>
                  <a:txBody>
                    <a:bodyPr/>
                    <a:lstStyle/>
                    <a:p>
                      <a:r>
                        <a:rPr sz="1400" b="1">
                          <a:solidFill>
                            <a:srgbClr val="1C2230"/>
                          </a:solidFill>
                          <a:latin typeface="Courier New"/>
                        </a:rPr>
                        <a:t>Next</a:t>
                      </a:r>
                    </a:p>
                  </a:txBody>
                  <a:tcPr>
                    <a:solidFill>
                      <a:srgbClr val="F4F6F9"/>
                    </a:solidFill>
                  </a:tcPr>
                </a:tc>
                <a:tc>
                  <a:txBody>
                    <a:bodyPr/>
                    <a:lstStyle/>
                    <a:p>
                      <a:r>
                        <a:rPr sz="1500" b="0">
                          <a:solidFill>
                            <a:srgbClr val="1C2230"/>
                          </a:solidFill>
                          <a:latin typeface="Arial"/>
                        </a:rPr>
                        <a:t>Login with row-level ownership · KakaoTalk notifications · field test in the reference store</a:t>
                      </a:r>
                    </a:p>
                  </a:txBody>
                  <a:tcP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