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0.5 min]</a:t>
            </a:r>
          </a:p>
          <a:p>
            <a:r>
              <a:t>Good afternoon. We are Team 7. Our project is ShiftSwap, a system that manages part-time shift schedules and substitute requests in small stores. Hyewon will present the problem and the requirements, I will present the design and how we built it with vibe coding, and Minkyung will show the system, the tests and our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0.8 min]</a:t>
            </a:r>
          </a:p>
          <a:p>
            <a:r>
              <a:t>This is a real situation from the café where I work. When a worker cannot come, the owner phones the other workers one at a time. In our store that is usually three to five contacts per request. After someone agrees, the owner edits the spreadsheet, and at month end has to check again whether each of the two workers still qualifies for the weekly holiday allowance.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0.9 min]</a:t>
            </a:r>
          </a:p>
          <a:p>
            <a:r>
              <a:t>We grouped the difficulties into three problems. P1 is the cost of finding a substitute. P2 is that every swap changes two workers' schedules and weekly hours, and nothing recalculates them. P3 is that labour-law pay rules are applied from memory, so mistakes are found only on payday, if at 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0.9 min]</a:t>
            </a:r>
          </a:p>
          <a:p>
            <a:r>
              <a:t>From interviews and the legal sources we wrote twenty-one functional requirements and thirteen non-functional requirements, classified as product, organisational and external requirements as in Chapter 8. The core logic is captured in twelve business rules, and the data in twelve tables. This is well above the course minimum of five use cases and four tables.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1.0 min]</a:t>
            </a:r>
          </a:p>
          <a:p>
            <a:r>
              <a:t>This diagram shows the substitution part of the use-case model. A worker requests a substitute; the request includes finding eligible candidates. A candidate responds, and the owner approves, which includes recomputing the weekly hours. Cancellation by the worker and expiry by the system clock extend the request use case.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1.0 min]</a:t>
            </a:r>
          </a:p>
          <a:p>
            <a:r>
              <a:t>The legal rules became business rules that can be tested. For example, the holiday allowance exists only when the contract has at least fifteen hours a week and the worker was not absent; the hours are capped at forty. Because handing a shift over is legally unclear, the attendance effect of a swap is a setting the owner chooses.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0.8 min]</a:t>
            </a:r>
          </a:p>
          <a:p>
            <a:r>
              <a:t>Using the running system showed us a dead end: when nobody's registered availability matched, the owner was told there was no candidate but had nothing to do, and workers had to keep their availability up to date. We changed the requirement. Availability is gone; every co-worker who is not already working is asked, and anyone can answer 'can't'. If all of them do, the request ends clearly: the requester is asked to call the owner, and the owner gets one card to acknowledge. We retired UC-02 and FR-03 instead of reusing their numbers, so traceability stays intact. I now hand over to Hyoungdo.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0.9 min]</a:t>
            </a:r>
          </a:p>
          <a:p>
            <a:r>
              <a:t>The system runs entirely in the browser, so it can be hosted on GitHub Pages without a server. The user interface calls application services, one per use-case step. The services call pure rule functions that contain no database code, which is why every rule can be unit-tested. The data lives in a real SQLite database compiled to WebAssembly and is saved in the browser.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1.0 min]</a:t>
            </a:r>
          </a:p>
          <a:p>
            <a:r>
              <a:t>The most delicate interaction is two candidates accepting at almost the same time. Each acceptance runs in one transaction that first re-reads the request state. Only the first finds it REQUESTED; the second sees ACCEPTED, rolls back, and the worker is told who already took the shift.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0.9 min]</a:t>
            </a:r>
          </a:p>
          <a:p>
            <a:r>
              <a:t>This state diagram is the contract between screens, services and tests: every transition has a triggering function and at least one test. For example, a request that reaches its deadline or its shift start without approval expires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1.4 min]</a:t>
            </a:r>
          </a:p>
          <a:p>
            <a:r>
              <a:t>We did not write code by hand. We wrote one prompt that treats the specification as a contract, and let the AI coding assistant build the system. Every ambiguity the build found went into a prompt log and back into the specification. Six versions were needed. The last one came from re-running the prompt in an empty folder: the rebuilt system worked, but its function signatures differed from ours, so version five supplies our test files as the contract. I hand over to Minkyung.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1.2 min]</a:t>
            </a:r>
          </a:p>
          <a:p>
            <a:r>
              <a:t>Here is the system with our demo café. Seoyeon requested a substitute for Wednesday. The system asked the three co-workers who are free at that time, all at once. Minho does not have to look for it: his Home screen shows the request first, together with what accepting means for him — sixteen to twenty-one hours this week, holiday allowance unchanged. One tap accepts. When Doyun tries a moment later, he is told Minho was faster.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1.2 min]</a:t>
            </a:r>
          </a:p>
          <a:p>
            <a:r>
              <a:t>The owner opens the app and sees one thing to handle today. The card states the effect on both workers. Minho's scheduled hours rise from sixteen to twenty-one, but his contract hours stay sixteen, so he keeps the holiday allowance of three point two hours, which is 33,024 won. After approval the board shows the handover in amber.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0.9 min]</a:t>
            </a:r>
          </a:p>
          <a:p>
            <a:r>
              <a:t>At month end the owner generates payroll. Doyun's hourly wage is below the 2026 minimum wage, so the row is flagged and the month cannot be confirmed until the owner acknowledges the warning.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1.0 min]</a:t>
            </a:r>
          </a:p>
          <a:p>
            <a:r>
              <a:t>All 84 automated tests pass. They include boundary values such as fourteen point nine nine versus fifteen hours, the forty-hour cap, both attendance policies, and the concurrent acceptance. The traceability matrix in the report links every functional requirement to its use case, screen, function and tests.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1.0 min]</a:t>
            </a:r>
          </a:p>
          <a:p>
            <a:r>
              <a:t>To sum up: the owner no longer contacts workers one by one, candidates answer in two clicks, and every swap updates both workers' hours and pay eligibility. The limits are those of a client-only demo: no real login and data kept in one browser. The next step would be a server and a field test in the café.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00" y="2300000"/>
            <a:ext cx="900000" cy="90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00" y="2500000"/>
            <a:ext cx="10912000" cy="1200000"/>
          </a:xfrm>
          <a:prstGeom prst="rect">
            <a:avLst/>
          </a:prstGeom>
          <a:noFill/>
        </p:spPr>
        <p:txBody>
          <a:bodyPr wrap="square">
            <a:spAutoFit/>
          </a:bodyPr>
          <a:lstStyle/>
          <a:p>
            <a:pPr algn="l">
              <a:spcAft>
                <a:spcPts val="3000"/>
              </a:spcAft>
            </a:pPr>
            <a:r>
              <a:rPr sz="6000" b="1">
                <a:solidFill>
                  <a:srgbClr val="FFFFFF"/>
                </a:solidFill>
                <a:latin typeface="Arial"/>
              </a:rPr>
              <a:t>ShiftSwap</a:t>
            </a:r>
          </a:p>
        </p:txBody>
      </p:sp>
      <p:sp>
        <p:nvSpPr>
          <p:cNvPr id="5" name="TextBox 4"/>
          <p:cNvSpPr txBox="1"/>
          <p:nvPr/>
        </p:nvSpPr>
        <p:spPr>
          <a:xfrm>
            <a:off x="640000" y="3500000"/>
            <a:ext cx="9000000" cy="900000"/>
          </a:xfrm>
          <a:prstGeom prst="rect">
            <a:avLst/>
          </a:prstGeom>
          <a:noFill/>
        </p:spPr>
        <p:txBody>
          <a:bodyPr wrap="square">
            <a:spAutoFit/>
          </a:bodyPr>
          <a:lstStyle/>
          <a:p>
            <a:pPr algn="l">
              <a:spcAft>
                <a:spcPts val="1100"/>
              </a:spcAft>
            </a:pPr>
            <a:r>
              <a:rPr sz="2200" b="0">
                <a:solidFill>
                  <a:srgbClr val="D6DBE5"/>
                </a:solidFill>
                <a:latin typeface="Arial"/>
              </a:rPr>
              <a:t>A shift schedule and substitute management system for small part-time workplaces</a:t>
            </a:r>
          </a:p>
        </p:txBody>
      </p:sp>
      <p:sp>
        <p:nvSpPr>
          <p:cNvPr id="6" name="TextBox 5"/>
          <p:cNvSpPr txBox="1"/>
          <p:nvPr/>
        </p:nvSpPr>
        <p:spPr>
          <a:xfrm>
            <a:off x="640000" y="5000000"/>
            <a:ext cx="10912000" cy="900000"/>
          </a:xfrm>
          <a:prstGeom prst="rect">
            <a:avLst/>
          </a:prstGeom>
          <a:noFill/>
        </p:spPr>
        <p:txBody>
          <a:bodyPr wrap="square">
            <a:spAutoFit/>
          </a:bodyPr>
          <a:lstStyle/>
          <a:p>
            <a:pPr algn="l">
              <a:spcAft>
                <a:spcPts val="700"/>
              </a:spcAft>
            </a:pPr>
            <a:r>
              <a:rPr sz="1400" b="0">
                <a:solidFill>
                  <a:srgbClr val="B9C0CE"/>
                </a:solidFill>
                <a:latin typeface="Arial"/>
              </a:rPr>
              <a:t>Team 7 · Software Engineering, Fall 2026 · SeoulTech</a:t>
            </a:r>
          </a:p>
          <a:p>
            <a:pPr algn="l">
              <a:spcAft>
                <a:spcPts val="700"/>
              </a:spcAft>
            </a:pPr>
            <a:r>
              <a:rPr sz="1400" b="0">
                <a:solidFill>
                  <a:srgbClr val="B9C0CE"/>
                </a:solidFill>
                <a:latin typeface="Arial"/>
              </a:rPr>
              <a:t>Hyewon Kim · Hyoungdo Kim · Minkyung Kim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One exam, five phone calls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2 / 16   ·   Hyewon Kim</a:t>
            </a:r>
          </a:p>
        </p:txBody>
      </p:sp>
      <p:sp>
        <p:nvSpPr>
          <p:cNvPr id="5" name="TextBox 4"/>
          <p:cNvSpPr txBox="1"/>
          <p:nvPr/>
        </p:nvSpPr>
        <p:spPr>
          <a:xfrm>
            <a:off x="640000" y="1450000"/>
            <a:ext cx="10400000" cy="4000000"/>
          </a:xfrm>
          <a:prstGeom prst="rect">
            <a:avLst/>
          </a:prstGeom>
          <a:noFill/>
        </p:spPr>
        <p:txBody>
          <a:bodyPr wrap="square">
            <a:spAutoFit/>
          </a:bodyPr>
          <a:lstStyle/>
          <a:p>
            <a:pPr algn="l">
              <a:spcAft>
                <a:spcPts val="1300"/>
              </a:spcAft>
            </a:pPr>
            <a:r>
              <a:rPr sz="2600" b="0">
                <a:solidFill>
                  <a:srgbClr val="1C2230"/>
                </a:solidFill>
                <a:latin typeface="Arial"/>
              </a:rPr>
              <a:t>Wednesday 18:00–23:00 — Seoyeon has a midterm exam.</a:t>
            </a:r>
          </a:p>
          <a:p>
            <a:pPr algn="l">
              <a:spcAft>
                <a:spcPts val="1300"/>
              </a:spcAft>
            </a:pPr>
            <a:r>
              <a:rPr sz="2600" b="0">
                <a:solidFill>
                  <a:srgbClr val="1C2230"/>
                </a:solidFill>
                <a:latin typeface="Arial"/>
              </a:rPr>
              <a:t>The owner calls co-workers one by one until someone says yes.</a:t>
            </a:r>
          </a:p>
          <a:p>
            <a:pPr algn="l">
              <a:spcAft>
                <a:spcPts val="1300"/>
              </a:spcAft>
            </a:pPr>
            <a:r>
              <a:rPr sz="2600" b="0">
                <a:solidFill>
                  <a:srgbClr val="1C2230"/>
                </a:solidFill>
                <a:latin typeface="Arial"/>
              </a:rPr>
              <a:t>Then edits the spreadsheet, and later re-checks two workers' weekly hours for holiday allowance.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Three problems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3 / 16   ·   Hyewon Kim</a:t>
            </a:r>
          </a:p>
        </p:txBody>
      </p:sp>
      <p:sp>
        <p:nvSpPr>
          <p:cNvPr id="5" name="Rectangle 4"/>
          <p:cNvSpPr/>
          <p:nvPr/>
        </p:nvSpPr>
        <p:spPr>
          <a:xfrm>
            <a:off x="640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0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P1</a:t>
            </a:r>
          </a:p>
        </p:txBody>
      </p:sp>
      <p:sp>
        <p:nvSpPr>
          <p:cNvPr id="7" name="TextBox 6"/>
          <p:cNvSpPr txBox="1"/>
          <p:nvPr/>
        </p:nvSpPr>
        <p:spPr>
          <a:xfrm>
            <a:off x="840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Finding a substitute</a:t>
            </a:r>
          </a:p>
        </p:txBody>
      </p:sp>
      <p:sp>
        <p:nvSpPr>
          <p:cNvPr id="8" name="TextBox 7"/>
          <p:cNvSpPr txBox="1"/>
          <p:nvPr/>
        </p:nvSpPr>
        <p:spPr>
          <a:xfrm>
            <a:off x="840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Repeated one-to-one contacts for every request (3–5 in the reference store).</a:t>
            </a:r>
          </a:p>
        </p:txBody>
      </p:sp>
      <p:sp>
        <p:nvSpPr>
          <p:cNvPr id="9" name="Rectangle 8"/>
          <p:cNvSpPr/>
          <p:nvPr/>
        </p:nvSpPr>
        <p:spPr>
          <a:xfrm>
            <a:off x="4344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P2</a:t>
            </a:r>
          </a:p>
        </p:txBody>
      </p:sp>
      <p:sp>
        <p:nvSpPr>
          <p:cNvPr id="11" name="TextBox 10"/>
          <p:cNvSpPr txBox="1"/>
          <p:nvPr/>
        </p:nvSpPr>
        <p:spPr>
          <a:xfrm>
            <a:off x="4544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Keeping records right</a:t>
            </a:r>
          </a:p>
        </p:txBody>
      </p:sp>
      <p:sp>
        <p:nvSpPr>
          <p:cNvPr id="12" name="TextBox 11"/>
          <p:cNvSpPr txBox="1"/>
          <p:nvPr/>
        </p:nvSpPr>
        <p:spPr>
          <a:xfrm>
            <a:off x="4544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Every swap changes the schedule and weekly hours of two workers; all recalculation is manual.</a:t>
            </a:r>
          </a:p>
        </p:txBody>
      </p:sp>
      <p:sp>
        <p:nvSpPr>
          <p:cNvPr id="13" name="Rectangle 12"/>
          <p:cNvSpPr/>
          <p:nvPr/>
        </p:nvSpPr>
        <p:spPr>
          <a:xfrm>
            <a:off x="8048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48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P3</a:t>
            </a:r>
          </a:p>
        </p:txBody>
      </p:sp>
      <p:sp>
        <p:nvSpPr>
          <p:cNvPr id="15" name="TextBox 14"/>
          <p:cNvSpPr txBox="1"/>
          <p:nvPr/>
        </p:nvSpPr>
        <p:spPr>
          <a:xfrm>
            <a:off x="8248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Applying pay law</a:t>
            </a:r>
          </a:p>
        </p:txBody>
      </p:sp>
      <p:sp>
        <p:nvSpPr>
          <p:cNvPr id="16" name="TextBox 15"/>
          <p:cNvSpPr txBox="1"/>
          <p:nvPr/>
        </p:nvSpPr>
        <p:spPr>
          <a:xfrm>
            <a:off x="8248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Minimum wage, 15-hour holiday-allowance threshold, 5-employee premium rule and probation are applied from memory.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Requirements in numbers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4 / 16   ·   Hyewon Kim</a:t>
            </a:r>
          </a:p>
        </p:txBody>
      </p:sp>
      <p:sp>
        <p:nvSpPr>
          <p:cNvPr id="5" name="TextBox 4"/>
          <p:cNvSpPr txBox="1"/>
          <p:nvPr/>
        </p:nvSpPr>
        <p:spPr>
          <a:xfrm>
            <a:off x="640000"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3</a:t>
            </a:r>
          </a:p>
        </p:txBody>
      </p:sp>
      <p:sp>
        <p:nvSpPr>
          <p:cNvPr id="6" name="TextBox 5"/>
          <p:cNvSpPr txBox="1"/>
          <p:nvPr/>
        </p:nvSpPr>
        <p:spPr>
          <a:xfrm>
            <a:off x="640000"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actors</a:t>
            </a:r>
          </a:p>
        </p:txBody>
      </p:sp>
      <p:sp>
        <p:nvSpPr>
          <p:cNvPr id="7" name="TextBox 6"/>
          <p:cNvSpPr txBox="1"/>
          <p:nvPr/>
        </p:nvSpPr>
        <p:spPr>
          <a:xfrm>
            <a:off x="640000"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Worker, Owner, System Clock</a:t>
            </a:r>
          </a:p>
        </p:txBody>
      </p:sp>
      <p:sp>
        <p:nvSpPr>
          <p:cNvPr id="8" name="TextBox 7"/>
          <p:cNvSpPr txBox="1"/>
          <p:nvPr/>
        </p:nvSpPr>
        <p:spPr>
          <a:xfrm>
            <a:off x="4277333"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12</a:t>
            </a:r>
          </a:p>
        </p:txBody>
      </p:sp>
      <p:sp>
        <p:nvSpPr>
          <p:cNvPr id="9" name="TextBox 8"/>
          <p:cNvSpPr txBox="1"/>
          <p:nvPr/>
        </p:nvSpPr>
        <p:spPr>
          <a:xfrm>
            <a:off x="4277333"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use cases</a:t>
            </a:r>
          </a:p>
        </p:txBody>
      </p:sp>
      <p:sp>
        <p:nvSpPr>
          <p:cNvPr id="10" name="TextBox 9"/>
          <p:cNvSpPr txBox="1"/>
          <p:nvPr/>
        </p:nvSpPr>
        <p:spPr>
          <a:xfrm>
            <a:off x="4277333"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UC-02 retired in iteration 6</a:t>
            </a:r>
          </a:p>
        </p:txBody>
      </p:sp>
      <p:sp>
        <p:nvSpPr>
          <p:cNvPr id="11" name="TextBox 10"/>
          <p:cNvSpPr txBox="1"/>
          <p:nvPr/>
        </p:nvSpPr>
        <p:spPr>
          <a:xfrm>
            <a:off x="7914666"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21</a:t>
            </a:r>
          </a:p>
        </p:txBody>
      </p:sp>
      <p:sp>
        <p:nvSpPr>
          <p:cNvPr id="12" name="TextBox 11"/>
          <p:cNvSpPr txBox="1"/>
          <p:nvPr/>
        </p:nvSpPr>
        <p:spPr>
          <a:xfrm>
            <a:off x="7914666"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functional req.</a:t>
            </a:r>
          </a:p>
        </p:txBody>
      </p:sp>
      <p:sp>
        <p:nvSpPr>
          <p:cNvPr id="13" name="TextBox 12"/>
          <p:cNvSpPr txBox="1"/>
          <p:nvPr/>
        </p:nvSpPr>
        <p:spPr>
          <a:xfrm>
            <a:off x="7914666"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FR-01 … FR-22, FR-03 retired</a:t>
            </a:r>
          </a:p>
        </p:txBody>
      </p:sp>
      <p:sp>
        <p:nvSpPr>
          <p:cNvPr id="14" name="TextBox 13"/>
          <p:cNvSpPr txBox="1"/>
          <p:nvPr/>
        </p:nvSpPr>
        <p:spPr>
          <a:xfrm>
            <a:off x="640000"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13</a:t>
            </a:r>
          </a:p>
        </p:txBody>
      </p:sp>
      <p:sp>
        <p:nvSpPr>
          <p:cNvPr id="15" name="TextBox 14"/>
          <p:cNvSpPr txBox="1"/>
          <p:nvPr/>
        </p:nvSpPr>
        <p:spPr>
          <a:xfrm>
            <a:off x="640000"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non-functional req.</a:t>
            </a:r>
          </a:p>
        </p:txBody>
      </p:sp>
      <p:sp>
        <p:nvSpPr>
          <p:cNvPr id="16" name="TextBox 15"/>
          <p:cNvSpPr txBox="1"/>
          <p:nvPr/>
        </p:nvSpPr>
        <p:spPr>
          <a:xfrm>
            <a:off x="640000"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Product · Organisational · External</a:t>
            </a:r>
          </a:p>
        </p:txBody>
      </p:sp>
      <p:sp>
        <p:nvSpPr>
          <p:cNvPr id="17" name="TextBox 16"/>
          <p:cNvSpPr txBox="1"/>
          <p:nvPr/>
        </p:nvSpPr>
        <p:spPr>
          <a:xfrm>
            <a:off x="4277333"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13</a:t>
            </a:r>
          </a:p>
        </p:txBody>
      </p:sp>
      <p:sp>
        <p:nvSpPr>
          <p:cNvPr id="18" name="TextBox 17"/>
          <p:cNvSpPr txBox="1"/>
          <p:nvPr/>
        </p:nvSpPr>
        <p:spPr>
          <a:xfrm>
            <a:off x="4277333"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business rules</a:t>
            </a:r>
          </a:p>
        </p:txBody>
      </p:sp>
      <p:sp>
        <p:nvSpPr>
          <p:cNvPr id="19" name="TextBox 18"/>
          <p:cNvSpPr txBox="1"/>
          <p:nvPr/>
        </p:nvSpPr>
        <p:spPr>
          <a:xfrm>
            <a:off x="4277333"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BR-01 … BR-13, each tested</a:t>
            </a:r>
          </a:p>
        </p:txBody>
      </p:sp>
      <p:sp>
        <p:nvSpPr>
          <p:cNvPr id="20" name="TextBox 19"/>
          <p:cNvSpPr txBox="1"/>
          <p:nvPr/>
        </p:nvSpPr>
        <p:spPr>
          <a:xfrm>
            <a:off x="7914666"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11</a:t>
            </a:r>
          </a:p>
        </p:txBody>
      </p:sp>
      <p:sp>
        <p:nvSpPr>
          <p:cNvPr id="21" name="TextBox 20"/>
          <p:cNvSpPr txBox="1"/>
          <p:nvPr/>
        </p:nvSpPr>
        <p:spPr>
          <a:xfrm>
            <a:off x="7914666"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tables</a:t>
            </a:r>
          </a:p>
        </p:txBody>
      </p:sp>
      <p:sp>
        <p:nvSpPr>
          <p:cNvPr id="22" name="TextBox 21"/>
          <p:cNvSpPr txBox="1"/>
          <p:nvPr/>
        </p:nvSpPr>
        <p:spPr>
          <a:xfrm>
            <a:off x="7914666"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SQLite schema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Use cases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5 / 16   ·   Hyewon Kim</a:t>
            </a:r>
          </a:p>
        </p:txBody>
      </p:sp>
      <p:pic>
        <p:nvPicPr>
          <p:cNvPr id="5" name="Picture 4" descr="usecase-substitute.png"/>
          <p:cNvPicPr>
            <a:picLocks noChangeAspect="1"/>
          </p:cNvPicPr>
          <p:nvPr/>
        </p:nvPicPr>
        <p:blipFill>
          <a:blip r:embed="rId2"/>
          <a:stretch>
            <a:fillRect/>
          </a:stretch>
        </p:blipFill>
        <p:spPr>
          <a:xfrm>
            <a:off x="640000" y="1331734"/>
            <a:ext cx="10912000" cy="4286532"/>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Substitution use cases with «include» / «extend» (overview of all 12 in the report)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Pay law as testable rules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6 / 16   ·   Hyewon Kim</a:t>
            </a:r>
          </a:p>
        </p:txBody>
      </p:sp>
      <p:graphicFrame>
        <p:nvGraphicFramePr>
          <p:cNvPr id="5" name="Table 4"/>
          <p:cNvGraphicFramePr>
            <a:graphicFrameLocks noGrp="1"/>
          </p:cNvGraphicFramePr>
          <p:nvPr/>
        </p:nvGraphicFramePr>
        <p:xfrm>
          <a:off x="640000" y="1450000"/>
          <a:ext cx="10912000" cy="2800000"/>
        </p:xfrm>
        <a:graphic>
          <a:graphicData uri="http://schemas.openxmlformats.org/drawingml/2006/table">
            <a:tbl>
              <a:tblPr firstRow="1" bandRow="1">
                <a:tableStyleId>{5C22544A-7EE6-4342-B048-85BDC9FD1C3A}</a:tableStyleId>
              </a:tblPr>
              <a:tblGrid>
                <a:gridCol w="1309440"/>
                <a:gridCol w="5237760"/>
                <a:gridCol w="4364800"/>
              </a:tblGrid>
              <a:tr h="700000">
                <a:tc>
                  <a:txBody>
                    <a:bodyPr/>
                    <a:lstStyle/>
                    <a:p>
                      <a:r>
                        <a:rPr sz="1400" b="1">
                          <a:solidFill>
                            <a:srgbClr val="1C2230"/>
                          </a:solidFill>
                          <a:latin typeface="Courier New"/>
                        </a:rPr>
                        <a:t>BR-06</a:t>
                      </a:r>
                    </a:p>
                  </a:txBody>
                  <a:tcPr>
                    <a:solidFill>
                      <a:srgbClr val="F4F6F9"/>
                    </a:solidFill>
                  </a:tcPr>
                </a:tc>
                <a:tc>
                  <a:txBody>
                    <a:bodyPr/>
                    <a:lstStyle/>
                    <a:p>
                      <a:r>
                        <a:rPr sz="1500" b="0">
                          <a:solidFill>
                            <a:srgbClr val="1C2230"/>
                          </a:solidFill>
                          <a:latin typeface="Arial"/>
                        </a:rPr>
                        <a:t>Holiday allowance only with ≥ 15 contract hours a week and no absence</a:t>
                      </a:r>
                    </a:p>
                  </a:txBody>
                  <a:tcPr>
                    <a:solidFill>
                      <a:srgbClr val="FFFFFF"/>
                    </a:solidFill>
                  </a:tcPr>
                </a:tc>
                <a:tc>
                  <a:txBody>
                    <a:bodyPr/>
                    <a:lstStyle/>
                    <a:p>
                      <a:r>
                        <a:rPr sz="1500" b="0">
                          <a:solidFill>
                            <a:srgbClr val="1C2230"/>
                          </a:solidFill>
                          <a:latin typeface="Arial"/>
                        </a:rPr>
                        <a:t>Labor Standards Act Art. 18 ③, 55</a:t>
                      </a:r>
                    </a:p>
                  </a:txBody>
                  <a:tcPr>
                    <a:solidFill>
                      <a:srgbClr val="FFFFFF"/>
                    </a:solidFill>
                  </a:tcPr>
                </a:tc>
              </a:tr>
              <a:tr h="700000">
                <a:tc>
                  <a:txBody>
                    <a:bodyPr/>
                    <a:lstStyle/>
                    <a:p>
                      <a:r>
                        <a:rPr sz="1400" b="1">
                          <a:solidFill>
                            <a:srgbClr val="1C2230"/>
                          </a:solidFill>
                          <a:latin typeface="Courier New"/>
                        </a:rPr>
                        <a:t>BR-07</a:t>
                      </a:r>
                    </a:p>
                  </a:txBody>
                  <a:tcPr>
                    <a:solidFill>
                      <a:srgbClr val="F4F6F9"/>
                    </a:solidFill>
                  </a:tcPr>
                </a:tc>
                <a:tc>
                  <a:txBody>
                    <a:bodyPr/>
                    <a:lstStyle/>
                    <a:p>
                      <a:r>
                        <a:rPr sz="1500" b="0">
                          <a:solidFill>
                            <a:srgbClr val="1C2230"/>
                          </a:solidFill>
                          <a:latin typeface="Arial"/>
                        </a:rPr>
                        <a:t>Holiday hours = min(hours, 40) ÷ 40 × 8</a:t>
                      </a:r>
                    </a:p>
                  </a:txBody>
                  <a:tcPr>
                    <a:solidFill>
                      <a:srgbClr val="FFFFFF"/>
                    </a:solidFill>
                  </a:tcPr>
                </a:tc>
                <a:tc>
                  <a:txBody>
                    <a:bodyPr/>
                    <a:lstStyle/>
                    <a:p>
                      <a:r>
                        <a:rPr sz="1500" b="0">
                          <a:solidFill>
                            <a:srgbClr val="1C2230"/>
                          </a:solidFill>
                          <a:latin typeface="Arial"/>
                        </a:rPr>
                        <a:t>Enforcement Decree Art. 30</a:t>
                      </a:r>
                    </a:p>
                  </a:txBody>
                  <a:tcPr>
                    <a:solidFill>
                      <a:srgbClr val="FFFFFF"/>
                    </a:solidFill>
                  </a:tcPr>
                </a:tc>
              </a:tr>
              <a:tr h="700000">
                <a:tc>
                  <a:txBody>
                    <a:bodyPr/>
                    <a:lstStyle/>
                    <a:p>
                      <a:r>
                        <a:rPr sz="1400" b="1">
                          <a:solidFill>
                            <a:srgbClr val="1C2230"/>
                          </a:solidFill>
                          <a:latin typeface="Courier New"/>
                        </a:rPr>
                        <a:t>BR-08</a:t>
                      </a:r>
                    </a:p>
                  </a:txBody>
                  <a:tcPr>
                    <a:solidFill>
                      <a:srgbClr val="F4F6F9"/>
                    </a:solidFill>
                  </a:tcPr>
                </a:tc>
                <a:tc>
                  <a:txBody>
                    <a:bodyPr/>
                    <a:lstStyle/>
                    <a:p>
                      <a:r>
                        <a:rPr sz="1500" b="0">
                          <a:solidFill>
                            <a:srgbClr val="1C2230"/>
                          </a:solidFill>
                          <a:latin typeface="Arial"/>
                        </a:rPr>
                        <a:t>50 % premiums only with 5 or more regular employees</a:t>
                      </a:r>
                    </a:p>
                  </a:txBody>
                  <a:tcPr>
                    <a:solidFill>
                      <a:srgbClr val="FFFFFF"/>
                    </a:solidFill>
                  </a:tcPr>
                </a:tc>
                <a:tc>
                  <a:txBody>
                    <a:bodyPr/>
                    <a:lstStyle/>
                    <a:p>
                      <a:r>
                        <a:rPr sz="1500" b="0">
                          <a:solidFill>
                            <a:srgbClr val="1C2230"/>
                          </a:solidFill>
                          <a:latin typeface="Arial"/>
                        </a:rPr>
                        <a:t>Art. 11, 56</a:t>
                      </a:r>
                    </a:p>
                  </a:txBody>
                  <a:tcPr>
                    <a:solidFill>
                      <a:srgbClr val="FFFFFF"/>
                    </a:solidFill>
                  </a:tcPr>
                </a:tc>
              </a:tr>
              <a:tr h="700000">
                <a:tc>
                  <a:txBody>
                    <a:bodyPr/>
                    <a:lstStyle/>
                    <a:p>
                      <a:r>
                        <a:rPr sz="1400" b="1">
                          <a:solidFill>
                            <a:srgbClr val="1C2230"/>
                          </a:solidFill>
                          <a:latin typeface="Courier New"/>
                        </a:rPr>
                        <a:t>BR-09/10</a:t>
                      </a:r>
                    </a:p>
                  </a:txBody>
                  <a:tcPr>
                    <a:solidFill>
                      <a:srgbClr val="F4F6F9"/>
                    </a:solidFill>
                  </a:tcPr>
                </a:tc>
                <a:tc>
                  <a:txBody>
                    <a:bodyPr/>
                    <a:lstStyle/>
                    <a:p>
                      <a:r>
                        <a:rPr sz="1500" b="0">
                          <a:solidFill>
                            <a:srgbClr val="1C2230"/>
                          </a:solidFill>
                          <a:latin typeface="Arial"/>
                        </a:rPr>
                        <a:t>Warn below KRW 10,320; 90 % only in qualifying probation</a:t>
                      </a:r>
                    </a:p>
                  </a:txBody>
                  <a:tcPr>
                    <a:solidFill>
                      <a:srgbClr val="FFFFFF"/>
                    </a:solidFill>
                  </a:tcPr>
                </a:tc>
                <a:tc>
                  <a:txBody>
                    <a:bodyPr/>
                    <a:lstStyle/>
                    <a:p>
                      <a:r>
                        <a:rPr sz="1500" b="0">
                          <a:solidFill>
                            <a:srgbClr val="1C2230"/>
                          </a:solidFill>
                          <a:latin typeface="Arial"/>
                        </a:rPr>
                        <a:t>Minimum Wage Act Art. 5 ②</a:t>
                      </a:r>
                    </a:p>
                  </a:txBody>
                  <a:tcP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A requirement we changed</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7 / 16   ·   Hyewon Kim</a:t>
            </a:r>
          </a:p>
        </p:txBody>
      </p:sp>
      <p:sp>
        <p:nvSpPr>
          <p:cNvPr id="5" name="Rectangle 4"/>
          <p:cNvSpPr/>
          <p:nvPr/>
        </p:nvSpPr>
        <p:spPr>
          <a:xfrm>
            <a:off x="640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0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Found</a:t>
            </a:r>
          </a:p>
        </p:txBody>
      </p:sp>
      <p:sp>
        <p:nvSpPr>
          <p:cNvPr id="7" name="TextBox 6"/>
          <p:cNvSpPr txBox="1"/>
          <p:nvPr/>
        </p:nvSpPr>
        <p:spPr>
          <a:xfrm>
            <a:off x="840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A dead end</a:t>
            </a:r>
          </a:p>
        </p:txBody>
      </p:sp>
      <p:sp>
        <p:nvSpPr>
          <p:cNvPr id="8" name="TextBox 7"/>
          <p:cNvSpPr txBox="1"/>
          <p:nvPr/>
        </p:nvSpPr>
        <p:spPr>
          <a:xfrm>
            <a:off x="840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When nobody's availability matched, the owner was only told 'no candidate' and could do nothing.</a:t>
            </a:r>
          </a:p>
        </p:txBody>
      </p:sp>
      <p:sp>
        <p:nvSpPr>
          <p:cNvPr id="9" name="Rectangle 8"/>
          <p:cNvSpPr/>
          <p:nvPr/>
        </p:nvSpPr>
        <p:spPr>
          <a:xfrm>
            <a:off x="4344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Decided</a:t>
            </a:r>
          </a:p>
        </p:txBody>
      </p:sp>
      <p:sp>
        <p:nvSpPr>
          <p:cNvPr id="11" name="TextBox 10"/>
          <p:cNvSpPr txBox="1"/>
          <p:nvPr/>
        </p:nvSpPr>
        <p:spPr>
          <a:xfrm>
            <a:off x="4544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Ask everyone, allow 'can't'</a:t>
            </a:r>
          </a:p>
        </p:txBody>
      </p:sp>
      <p:sp>
        <p:nvSpPr>
          <p:cNvPr id="12" name="TextBox 11"/>
          <p:cNvSpPr txBox="1"/>
          <p:nvPr/>
        </p:nvSpPr>
        <p:spPr>
          <a:xfrm>
            <a:off x="4544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Availability is no longer collected. Every co-worker not already working is asked; the first to accept takes it.</a:t>
            </a:r>
          </a:p>
        </p:txBody>
      </p:sp>
      <p:sp>
        <p:nvSpPr>
          <p:cNvPr id="13" name="Rectangle 12"/>
          <p:cNvSpPr/>
          <p:nvPr/>
        </p:nvSpPr>
        <p:spPr>
          <a:xfrm>
            <a:off x="8048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48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Result</a:t>
            </a:r>
          </a:p>
        </p:txBody>
      </p:sp>
      <p:sp>
        <p:nvSpPr>
          <p:cNvPr id="15" name="TextBox 14"/>
          <p:cNvSpPr txBox="1"/>
          <p:nvPr/>
        </p:nvSpPr>
        <p:spPr>
          <a:xfrm>
            <a:off x="8248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A clear ending</a:t>
            </a:r>
          </a:p>
        </p:txBody>
      </p:sp>
      <p:sp>
        <p:nvSpPr>
          <p:cNvPr id="16" name="TextBox 15"/>
          <p:cNvSpPr txBox="1"/>
          <p:nvPr/>
        </p:nvSpPr>
        <p:spPr>
          <a:xfrm>
            <a:off x="8248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If everyone answers 'can't', the requester is told to call the owner and the owner gets one card to acknowledge.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Architecture: a client-only web app</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8 / 16   ·   Hyoungdo Kim</a:t>
            </a:r>
          </a:p>
        </p:txBody>
      </p:sp>
      <p:pic>
        <p:nvPicPr>
          <p:cNvPr id="5" name="Picture 4" descr="component.png"/>
          <p:cNvPicPr>
            <a:picLocks noChangeAspect="1"/>
          </p:cNvPicPr>
          <p:nvPr/>
        </p:nvPicPr>
        <p:blipFill>
          <a:blip r:embed="rId2"/>
          <a:stretch>
            <a:fillRect/>
          </a:stretch>
        </p:blipFill>
        <p:spPr>
          <a:xfrm>
            <a:off x="1106986" y="1250000"/>
            <a:ext cx="9978028"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Presentation → application services → pure rules → SQLite (sql.js, WebAssembly) → localStorage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First acceptance wins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9 / 16   ·   Hyoungdo Kim</a:t>
            </a:r>
          </a:p>
        </p:txBody>
      </p:sp>
      <p:pic>
        <p:nvPicPr>
          <p:cNvPr id="5" name="Picture 4" descr="seq-2-accept.png"/>
          <p:cNvPicPr>
            <a:picLocks noChangeAspect="1"/>
          </p:cNvPicPr>
          <p:nvPr/>
        </p:nvPicPr>
        <p:blipFill>
          <a:blip r:embed="rId2"/>
          <a:stretch>
            <a:fillRect/>
          </a:stretch>
        </p:blipFill>
        <p:spPr>
          <a:xfrm>
            <a:off x="4584910" y="1250000"/>
            <a:ext cx="3022179"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Sequence SD-2: the second acceptance re-checks the state inside its transaction and is refused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Life of a substitute request</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10 / 16   ·   Hyoungdo Kim</a:t>
            </a:r>
          </a:p>
        </p:txBody>
      </p:sp>
      <p:pic>
        <p:nvPicPr>
          <p:cNvPr id="5" name="Picture 4" descr="state-subrequest.png"/>
          <p:cNvPicPr>
            <a:picLocks noChangeAspect="1"/>
          </p:cNvPicPr>
          <p:nvPr/>
        </p:nvPicPr>
        <p:blipFill>
          <a:blip r:embed="rId2"/>
          <a:stretch>
            <a:fillRect/>
          </a:stretch>
        </p:blipFill>
        <p:spPr>
          <a:xfrm>
            <a:off x="640000" y="1912100"/>
            <a:ext cx="10912000" cy="31258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State diagram: REQUESTED → ACCEPTED → APPROVED / REJECTED, with EXPIRED and CANCELLED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Vibe coding: six prompt versions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11 / 16   ·   Hyoungdo Kim</a:t>
            </a:r>
          </a:p>
        </p:txBody>
      </p:sp>
      <p:graphicFrame>
        <p:nvGraphicFramePr>
          <p:cNvPr id="5" name="Table 4"/>
          <p:cNvGraphicFramePr>
            <a:graphicFrameLocks noGrp="1"/>
          </p:cNvGraphicFramePr>
          <p:nvPr/>
        </p:nvGraphicFramePr>
        <p:xfrm>
          <a:off x="640000" y="1450000"/>
          <a:ext cx="10912000" cy="4200000"/>
        </p:xfrm>
        <a:graphic>
          <a:graphicData uri="http://schemas.openxmlformats.org/drawingml/2006/table">
            <a:tbl>
              <a:tblPr firstRow="1" bandRow="1">
                <a:tableStyleId>{5C22544A-7EE6-4342-B048-85BDC9FD1C3A}</a:tableStyleId>
              </a:tblPr>
              <a:tblGrid>
                <a:gridCol w="1309440"/>
                <a:gridCol w="5237760"/>
                <a:gridCol w="4364800"/>
              </a:tblGrid>
              <a:tr h="700000">
                <a:tc>
                  <a:txBody>
                    <a:bodyPr/>
                    <a:lstStyle/>
                    <a:p>
                      <a:r>
                        <a:rPr sz="1400" b="1">
                          <a:solidFill>
                            <a:srgbClr val="1C2230"/>
                          </a:solidFill>
                          <a:latin typeface="Courier New"/>
                        </a:rPr>
                        <a:t>v1</a:t>
                      </a:r>
                    </a:p>
                  </a:txBody>
                  <a:tcPr>
                    <a:solidFill>
                      <a:srgbClr val="F4F6F9"/>
                    </a:solidFill>
                  </a:tcPr>
                </a:tc>
                <a:tc>
                  <a:txBody>
                    <a:bodyPr/>
                    <a:lstStyle/>
                    <a:p>
                      <a:r>
                        <a:rPr sz="1500" b="0">
                          <a:solidFill>
                            <a:srgbClr val="1C2230"/>
                          </a:solidFill>
                          <a:latin typeface="Arial"/>
                        </a:rPr>
                        <a:t>Specification + technology, screens, design, done criteria</a:t>
                      </a:r>
                    </a:p>
                  </a:txBody>
                  <a:tcPr>
                    <a:solidFill>
                      <a:srgbClr val="FFFFFF"/>
                    </a:solidFill>
                  </a:tcPr>
                </a:tc>
                <a:tc>
                  <a:txBody>
                    <a:bodyPr/>
                    <a:lstStyle/>
                    <a:p>
                      <a:r>
                        <a:rPr sz="1500" b="0">
                          <a:solidFill>
                            <a:srgbClr val="1C2230"/>
                          </a:solidFill>
                          <a:latin typeface="Arial"/>
                        </a:rPr>
                        <a:t>App built; 21 ambiguities logged by the build</a:t>
                      </a:r>
                    </a:p>
                  </a:txBody>
                  <a:tcPr>
                    <a:solidFill>
                      <a:srgbClr val="FFFFFF"/>
                    </a:solidFill>
                  </a:tcPr>
                </a:tc>
              </a:tr>
              <a:tr h="700000">
                <a:tc>
                  <a:txBody>
                    <a:bodyPr/>
                    <a:lstStyle/>
                    <a:p>
                      <a:r>
                        <a:rPr sz="1400" b="1">
                          <a:solidFill>
                            <a:srgbClr val="1C2230"/>
                          </a:solidFill>
                          <a:latin typeface="Courier New"/>
                        </a:rPr>
                        <a:t>v2</a:t>
                      </a:r>
                    </a:p>
                  </a:txBody>
                  <a:tcPr>
                    <a:solidFill>
                      <a:srgbClr val="F4F6F9"/>
                    </a:solidFill>
                  </a:tcPr>
                </a:tc>
                <a:tc>
                  <a:txBody>
                    <a:bodyPr/>
                    <a:lstStyle/>
                    <a:p>
                      <a:r>
                        <a:rPr sz="1500" b="0">
                          <a:solidFill>
                            <a:srgbClr val="1C2230"/>
                          </a:solidFill>
                          <a:latin typeface="Arial"/>
                        </a:rPr>
                        <a:t>Ambiguities and document-review gaps resolved in the spec</a:t>
                      </a:r>
                    </a:p>
                  </a:txBody>
                  <a:tcPr>
                    <a:solidFill>
                      <a:srgbClr val="FFFFFF"/>
                    </a:solidFill>
                  </a:tcPr>
                </a:tc>
                <a:tc>
                  <a:txBody>
                    <a:bodyPr/>
                    <a:lstStyle/>
                    <a:p>
                      <a:r>
                        <a:rPr sz="1500" b="0">
                          <a:solidFill>
                            <a:srgbClr val="1C2230"/>
                          </a:solidFill>
                          <a:latin typeface="Arial"/>
                        </a:rPr>
                        <a:t>Acknowledgement column, notification recipients, S7 walkthrough</a:t>
                      </a:r>
                    </a:p>
                  </a:txBody>
                  <a:tcPr>
                    <a:solidFill>
                      <a:srgbClr val="FFFFFF"/>
                    </a:solidFill>
                  </a:tcPr>
                </a:tc>
              </a:tr>
              <a:tr h="700000">
                <a:tc>
                  <a:txBody>
                    <a:bodyPr/>
                    <a:lstStyle/>
                    <a:p>
                      <a:r>
                        <a:rPr sz="1400" b="1">
                          <a:solidFill>
                            <a:srgbClr val="1C2230"/>
                          </a:solidFill>
                          <a:latin typeface="Courier New"/>
                        </a:rPr>
                        <a:t>v3</a:t>
                      </a:r>
                    </a:p>
                  </a:txBody>
                  <a:tcPr>
                    <a:solidFill>
                      <a:srgbClr val="F4F6F9"/>
                    </a:solidFill>
                  </a:tcPr>
                </a:tc>
                <a:tc>
                  <a:txBody>
                    <a:bodyPr/>
                    <a:lstStyle/>
                    <a:p>
                      <a:r>
                        <a:rPr sz="1500" b="0">
                          <a:solidFill>
                            <a:srgbClr val="1C2230"/>
                          </a:solidFill>
                          <a:latin typeface="Arial"/>
                        </a:rPr>
                        <a:t>UI review of the running app</a:t>
                      </a:r>
                    </a:p>
                  </a:txBody>
                  <a:tcPr>
                    <a:solidFill>
                      <a:srgbClr val="FFFFFF"/>
                    </a:solidFill>
                  </a:tcPr>
                </a:tc>
                <a:tc>
                  <a:txBody>
                    <a:bodyPr/>
                    <a:lstStyle/>
                    <a:p>
                      <a:r>
                        <a:rPr sz="1500" b="0">
                          <a:solidFill>
                            <a:srgbClr val="1C2230"/>
                          </a:solidFill>
                          <a:latin typeface="Arial"/>
                        </a:rPr>
                        <a:t>Time-grid board, page purposes, overview strip, empty states</a:t>
                      </a:r>
                    </a:p>
                  </a:txBody>
                  <a:tcPr>
                    <a:solidFill>
                      <a:srgbClr val="FFFFFF"/>
                    </a:solidFill>
                  </a:tcPr>
                </a:tc>
              </a:tr>
              <a:tr h="700000">
                <a:tc>
                  <a:txBody>
                    <a:bodyPr/>
                    <a:lstStyle/>
                    <a:p>
                      <a:r>
                        <a:rPr sz="1400" b="1">
                          <a:solidFill>
                            <a:srgbClr val="1C2230"/>
                          </a:solidFill>
                          <a:latin typeface="Courier New"/>
                        </a:rPr>
                        <a:t>v4</a:t>
                      </a:r>
                    </a:p>
                  </a:txBody>
                  <a:tcPr>
                    <a:solidFill>
                      <a:srgbClr val="F4F6F9"/>
                    </a:solidFill>
                  </a:tcPr>
                </a:tc>
                <a:tc>
                  <a:txBody>
                    <a:bodyPr/>
                    <a:lstStyle/>
                    <a:p>
                      <a:r>
                        <a:rPr sz="1500" b="0">
                          <a:solidFill>
                            <a:srgbClr val="1C2230"/>
                          </a:solidFill>
                          <a:latin typeface="Arial"/>
                        </a:rPr>
                        <a:t>UX redesign review: task-first, one primary action</a:t>
                      </a:r>
                    </a:p>
                  </a:txBody>
                  <a:tcPr>
                    <a:solidFill>
                      <a:srgbClr val="FFFFFF"/>
                    </a:solidFill>
                  </a:tcPr>
                </a:tc>
                <a:tc>
                  <a:txBody>
                    <a:bodyPr/>
                    <a:lstStyle/>
                    <a:p>
                      <a:r>
                        <a:rPr sz="1500" b="0">
                          <a:solidFill>
                            <a:srgbClr val="1C2230"/>
                          </a:solidFill>
                          <a:latin typeface="Arial"/>
                        </a:rPr>
                        <a:t>Role Home screens, 3-step request flow, consequences shown before commit</a:t>
                      </a:r>
                    </a:p>
                  </a:txBody>
                  <a:tcPr>
                    <a:solidFill>
                      <a:srgbClr val="FFFFFF"/>
                    </a:solidFill>
                  </a:tcPr>
                </a:tc>
              </a:tr>
              <a:tr h="700000">
                <a:tc>
                  <a:txBody>
                    <a:bodyPr/>
                    <a:lstStyle/>
                    <a:p>
                      <a:r>
                        <a:rPr sz="1400" b="1">
                          <a:solidFill>
                            <a:srgbClr val="1C2230"/>
                          </a:solidFill>
                          <a:latin typeface="Courier New"/>
                        </a:rPr>
                        <a:t>v5</a:t>
                      </a:r>
                    </a:p>
                  </a:txBody>
                  <a:tcPr>
                    <a:solidFill>
                      <a:srgbClr val="F4F6F9"/>
                    </a:solidFill>
                  </a:tcPr>
                </a:tc>
                <a:tc>
                  <a:txBody>
                    <a:bodyPr/>
                    <a:lstStyle/>
                    <a:p>
                      <a:r>
                        <a:rPr sz="1500" b="0">
                          <a:solidFill>
                            <a:srgbClr val="1C2230"/>
                          </a:solidFill>
                          <a:latin typeface="Arial"/>
                        </a:rPr>
                        <a:t>Rebuild in an empty folder + independent code review</a:t>
                      </a:r>
                    </a:p>
                  </a:txBody>
                  <a:tcPr>
                    <a:solidFill>
                      <a:srgbClr val="FFFFFF"/>
                    </a:solidFill>
                  </a:tcPr>
                </a:tc>
                <a:tc>
                  <a:txBody>
                    <a:bodyPr/>
                    <a:lstStyle/>
                    <a:p>
                      <a:r>
                        <a:rPr sz="1500" b="0">
                          <a:solidFill>
                            <a:srgbClr val="1C2230"/>
                          </a:solidFill>
                          <a:latin typeface="Arial"/>
                        </a:rPr>
                        <a:t>Tests become input; 7 defects fixed</a:t>
                      </a:r>
                    </a:p>
                  </a:txBody>
                  <a:tcPr>
                    <a:solidFill>
                      <a:srgbClr val="FFFFFF"/>
                    </a:solidFill>
                  </a:tcPr>
                </a:tc>
              </a:tr>
              <a:tr h="700000">
                <a:tc>
                  <a:txBody>
                    <a:bodyPr/>
                    <a:lstStyle/>
                    <a:p>
                      <a:r>
                        <a:rPr sz="1400" b="1">
                          <a:solidFill>
                            <a:srgbClr val="1C2230"/>
                          </a:solidFill>
                          <a:latin typeface="Courier New"/>
                        </a:rPr>
                        <a:t>v6</a:t>
                      </a:r>
                    </a:p>
                  </a:txBody>
                  <a:tcPr>
                    <a:solidFill>
                      <a:srgbClr val="F4F6F9"/>
                    </a:solidFill>
                  </a:tcPr>
                </a:tc>
                <a:tc>
                  <a:txBody>
                    <a:bodyPr/>
                    <a:lstStyle/>
                    <a:p>
                      <a:r>
                        <a:rPr sz="1500" b="0">
                          <a:solidFill>
                            <a:srgbClr val="1C2230"/>
                          </a:solidFill>
                          <a:latin typeface="Arial"/>
                        </a:rPr>
                        <a:t>Requirements change after using the app</a:t>
                      </a:r>
                    </a:p>
                  </a:txBody>
                  <a:tcPr>
                    <a:solidFill>
                      <a:srgbClr val="FFFFFF"/>
                    </a:solidFill>
                  </a:tcPr>
                </a:tc>
                <a:tc>
                  <a:txBody>
                    <a:bodyPr/>
                    <a:lstStyle/>
                    <a:p>
                      <a:r>
                        <a:rPr sz="1500" b="0">
                          <a:solidFill>
                            <a:srgbClr val="1C2230"/>
                          </a:solidFill>
                          <a:latin typeface="Arial"/>
                        </a:rPr>
                        <a:t>Availability removed; 'can't' answer; FAILED ending</a:t>
                      </a:r>
                    </a:p>
                  </a:txBody>
                  <a:tcP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Demo: the request comes to you</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12 / 16   ·   Minkyung Kim</a:t>
            </a:r>
          </a:p>
        </p:txBody>
      </p:sp>
      <p:pic>
        <p:nvPicPr>
          <p:cNvPr id="5" name="Picture 4" descr="ui-05-inbox.png"/>
          <p:cNvPicPr>
            <a:picLocks noChangeAspect="1"/>
          </p:cNvPicPr>
          <p:nvPr/>
        </p:nvPicPr>
        <p:blipFill>
          <a:blip r:embed="rId2"/>
          <a:stretch>
            <a:fillRect/>
          </a:stretch>
        </p:blipFill>
        <p:spPr>
          <a:xfrm>
            <a:off x="5424367" y="1250000"/>
            <a:ext cx="1343266"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Minho's Home: the request card shows the effect on his week before he taps Accept (one tap, NFR-01)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The owner decides on one card</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13 / 16   ·   Minkyung Kim</a:t>
            </a:r>
          </a:p>
        </p:txBody>
      </p:sp>
      <p:pic>
        <p:nvPicPr>
          <p:cNvPr id="5" name="Picture 4" descr="ui-06-approval.png"/>
          <p:cNvPicPr>
            <a:picLocks noChangeAspect="1"/>
          </p:cNvPicPr>
          <p:nvPr/>
        </p:nvPicPr>
        <p:blipFill>
          <a:blip r:embed="rId2"/>
          <a:stretch>
            <a:fillRect/>
          </a:stretch>
        </p:blipFill>
        <p:spPr>
          <a:xfrm>
            <a:off x="2931556" y="1250000"/>
            <a:ext cx="6328888"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Owner Home: '1 thing to handle today' — the swap, its effect on both workers, and one Approve button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Month end: payroll with legal checks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14 / 16   ·   Minkyung Kim</a:t>
            </a:r>
          </a:p>
        </p:txBody>
      </p:sp>
      <p:pic>
        <p:nvPicPr>
          <p:cNvPr id="5" name="Picture 4" descr="ui-10-payroll.png"/>
          <p:cNvPicPr>
            <a:picLocks noChangeAspect="1"/>
          </p:cNvPicPr>
          <p:nvPr/>
        </p:nvPicPr>
        <p:blipFill>
          <a:blip r:embed="rId2"/>
          <a:stretch>
            <a:fillRect/>
          </a:stretch>
        </p:blipFill>
        <p:spPr>
          <a:xfrm>
            <a:off x="3192840" y="1250000"/>
            <a:ext cx="5806320"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Doyun's wage is below the 2026 minimum: 'Confirm September pay' stays disabled, with the reason, until acknowledged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Testing</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15 / 16   ·   Minkyung Kim</a:t>
            </a:r>
          </a:p>
        </p:txBody>
      </p:sp>
      <p:sp>
        <p:nvSpPr>
          <p:cNvPr id="5" name="TextBox 4"/>
          <p:cNvSpPr txBox="1"/>
          <p:nvPr/>
        </p:nvSpPr>
        <p:spPr>
          <a:xfrm>
            <a:off x="640000"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84/84</a:t>
            </a:r>
          </a:p>
        </p:txBody>
      </p:sp>
      <p:sp>
        <p:nvSpPr>
          <p:cNvPr id="6" name="TextBox 5"/>
          <p:cNvSpPr txBox="1"/>
          <p:nvPr/>
        </p:nvSpPr>
        <p:spPr>
          <a:xfrm>
            <a:off x="640000"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tests pass</a:t>
            </a:r>
          </a:p>
        </p:txBody>
      </p:sp>
      <p:sp>
        <p:nvSpPr>
          <p:cNvPr id="7" name="TextBox 6"/>
          <p:cNvSpPr txBox="1"/>
          <p:nvPr/>
        </p:nvSpPr>
        <p:spPr>
          <a:xfrm>
            <a:off x="640000"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npm test, Node test runner</a:t>
            </a:r>
          </a:p>
        </p:txBody>
      </p:sp>
      <p:sp>
        <p:nvSpPr>
          <p:cNvPr id="8" name="TextBox 7"/>
          <p:cNvSpPr txBox="1"/>
          <p:nvPr/>
        </p:nvSpPr>
        <p:spPr>
          <a:xfrm>
            <a:off x="4277333"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13/13</a:t>
            </a:r>
          </a:p>
        </p:txBody>
      </p:sp>
      <p:sp>
        <p:nvSpPr>
          <p:cNvPr id="9" name="TextBox 8"/>
          <p:cNvSpPr txBox="1"/>
          <p:nvPr/>
        </p:nvSpPr>
        <p:spPr>
          <a:xfrm>
            <a:off x="4277333"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business rules tested</a:t>
            </a:r>
          </a:p>
        </p:txBody>
      </p:sp>
      <p:sp>
        <p:nvSpPr>
          <p:cNvPr id="10" name="TextBox 9"/>
          <p:cNvSpPr txBox="1"/>
          <p:nvPr/>
        </p:nvSpPr>
        <p:spPr>
          <a:xfrm>
            <a:off x="4277333"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every BR has ≥ 1 test</a:t>
            </a:r>
          </a:p>
        </p:txBody>
      </p:sp>
      <p:sp>
        <p:nvSpPr>
          <p:cNvPr id="11" name="TextBox 10"/>
          <p:cNvSpPr txBox="1"/>
          <p:nvPr/>
        </p:nvSpPr>
        <p:spPr>
          <a:xfrm>
            <a:off x="7914666"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77/77</a:t>
            </a:r>
          </a:p>
        </p:txBody>
      </p:sp>
      <p:sp>
        <p:nvSpPr>
          <p:cNvPr id="12" name="TextBox 11"/>
          <p:cNvSpPr txBox="1"/>
          <p:nvPr/>
        </p:nvSpPr>
        <p:spPr>
          <a:xfrm>
            <a:off x="7914666"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tests pass in a clean rebuild</a:t>
            </a:r>
          </a:p>
        </p:txBody>
      </p:sp>
      <p:sp>
        <p:nvSpPr>
          <p:cNvPr id="13" name="TextBox 12"/>
          <p:cNvSpPr txBox="1"/>
          <p:nvPr/>
        </p:nvSpPr>
        <p:spPr>
          <a:xfrm>
            <a:off x="7914666"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prompt v5 re-run in an empty folder</a:t>
            </a:r>
          </a:p>
        </p:txBody>
      </p:sp>
      <p:sp>
        <p:nvSpPr>
          <p:cNvPr id="14" name="TextBox 13"/>
          <p:cNvSpPr txBox="1"/>
          <p:nvPr/>
        </p:nvSpPr>
        <p:spPr>
          <a:xfrm>
            <a:off x="640000"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21/21</a:t>
            </a:r>
          </a:p>
        </p:txBody>
      </p:sp>
      <p:sp>
        <p:nvSpPr>
          <p:cNvPr id="15" name="TextBox 14"/>
          <p:cNvSpPr txBox="1"/>
          <p:nvPr/>
        </p:nvSpPr>
        <p:spPr>
          <a:xfrm>
            <a:off x="640000"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FRs traced</a:t>
            </a:r>
          </a:p>
        </p:txBody>
      </p:sp>
      <p:sp>
        <p:nvSpPr>
          <p:cNvPr id="16" name="TextBox 15"/>
          <p:cNvSpPr txBox="1"/>
          <p:nvPr/>
        </p:nvSpPr>
        <p:spPr>
          <a:xfrm>
            <a:off x="640000"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FR → UC → screen → function → test</a:t>
            </a:r>
          </a:p>
        </p:txBody>
      </p:sp>
      <p:sp>
        <p:nvSpPr>
          <p:cNvPr id="17" name="TextBox 16"/>
          <p:cNvSpPr txBox="1"/>
          <p:nvPr/>
        </p:nvSpPr>
        <p:spPr>
          <a:xfrm>
            <a:off x="4277333"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2</a:t>
            </a:r>
          </a:p>
        </p:txBody>
      </p:sp>
      <p:sp>
        <p:nvSpPr>
          <p:cNvPr id="18" name="TextBox 17"/>
          <p:cNvSpPr txBox="1"/>
          <p:nvPr/>
        </p:nvSpPr>
        <p:spPr>
          <a:xfrm>
            <a:off x="4277333"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screen widths</a:t>
            </a:r>
          </a:p>
        </p:txBody>
      </p:sp>
      <p:sp>
        <p:nvSpPr>
          <p:cNvPr id="19" name="TextBox 18"/>
          <p:cNvSpPr txBox="1"/>
          <p:nvPr/>
        </p:nvSpPr>
        <p:spPr>
          <a:xfrm>
            <a:off x="4277333"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360 px and 1440 px, no horizontal scroll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Results and limits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16 / 16   ·   Minkyung Kim</a:t>
            </a:r>
          </a:p>
        </p:txBody>
      </p:sp>
      <p:graphicFrame>
        <p:nvGraphicFramePr>
          <p:cNvPr id="5" name="Table 4"/>
          <p:cNvGraphicFramePr>
            <a:graphicFrameLocks noGrp="1"/>
          </p:cNvGraphicFramePr>
          <p:nvPr/>
        </p:nvGraphicFramePr>
        <p:xfrm>
          <a:off x="640000" y="1450000"/>
          <a:ext cx="10912000" cy="2800000"/>
        </p:xfrm>
        <a:graphic>
          <a:graphicData uri="http://schemas.openxmlformats.org/drawingml/2006/table">
            <a:tbl>
              <a:tblPr firstRow="1" bandRow="1">
                <a:tableStyleId>{5C22544A-7EE6-4342-B048-85BDC9FD1C3A}</a:tableStyleId>
              </a:tblPr>
              <a:tblGrid>
                <a:gridCol w="1745920"/>
                <a:gridCol w="9166080"/>
              </a:tblGrid>
              <a:tr h="700000">
                <a:tc>
                  <a:txBody>
                    <a:bodyPr/>
                    <a:lstStyle/>
                    <a:p>
                      <a:r>
                        <a:rPr sz="1400" b="1">
                          <a:solidFill>
                            <a:srgbClr val="1C2230"/>
                          </a:solidFill>
                          <a:latin typeface="Courier New"/>
                        </a:rPr>
                        <a:t>Achieved</a:t>
                      </a:r>
                    </a:p>
                  </a:txBody>
                  <a:tcPr>
                    <a:solidFill>
                      <a:srgbClr val="F4F6F9"/>
                    </a:solidFill>
                  </a:tcPr>
                </a:tc>
                <a:tc>
                  <a:txBody>
                    <a:bodyPr/>
                    <a:lstStyle/>
                    <a:p>
                      <a:r>
                        <a:rPr sz="1500" b="0">
                          <a:solidFill>
                            <a:srgbClr val="1C2230"/>
                          </a:solidFill>
                          <a:latin typeface="Arial"/>
                        </a:rPr>
                        <a:t>0 owner contacts per request · 2-click accept · automatic recomputation for both workers · legal checks before payday</a:t>
                      </a:r>
                    </a:p>
                  </a:txBody>
                  <a:tcPr>
                    <a:solidFill>
                      <a:srgbClr val="FFFFFF"/>
                    </a:solidFill>
                  </a:tcPr>
                </a:tc>
              </a:tr>
              <a:tr h="700000">
                <a:tc>
                  <a:txBody>
                    <a:bodyPr/>
                    <a:lstStyle/>
                    <a:p>
                      <a:r>
                        <a:rPr sz="1400" b="1">
                          <a:solidFill>
                            <a:srgbClr val="1C2230"/>
                          </a:solidFill>
                          <a:latin typeface="Courier New"/>
                        </a:rPr>
                        <a:t>Size</a:t>
                      </a:r>
                    </a:p>
                  </a:txBody>
                  <a:tcPr>
                    <a:solidFill>
                      <a:srgbClr val="F4F6F9"/>
                    </a:solidFill>
                  </a:tcPr>
                </a:tc>
                <a:tc>
                  <a:txBody>
                    <a:bodyPr/>
                    <a:lstStyle/>
                    <a:p>
                      <a:r>
                        <a:rPr sz="1500" b="0">
                          <a:solidFill>
                            <a:srgbClr val="1C2230"/>
                          </a:solidFill>
                          <a:latin typeface="Arial"/>
                        </a:rPr>
                        <a:t>12 use cases · 11 tables · 5,426 lines of application code · 1,051 lines of tests</a:t>
                      </a:r>
                    </a:p>
                  </a:txBody>
                  <a:tcPr>
                    <a:solidFill>
                      <a:srgbClr val="FFFFFF"/>
                    </a:solidFill>
                  </a:tcPr>
                </a:tc>
              </a:tr>
              <a:tr h="700000">
                <a:tc>
                  <a:txBody>
                    <a:bodyPr/>
                    <a:lstStyle/>
                    <a:p>
                      <a:r>
                        <a:rPr sz="1400" b="1">
                          <a:solidFill>
                            <a:srgbClr val="1C2230"/>
                          </a:solidFill>
                          <a:latin typeface="Courier New"/>
                        </a:rPr>
                        <a:t>Limits</a:t>
                      </a:r>
                    </a:p>
                  </a:txBody>
                  <a:tcPr>
                    <a:solidFill>
                      <a:srgbClr val="F4F6F9"/>
                    </a:solidFill>
                  </a:tcPr>
                </a:tc>
                <a:tc>
                  <a:txBody>
                    <a:bodyPr/>
                    <a:lstStyle/>
                    <a:p>
                      <a:r>
                        <a:rPr sz="1500" b="0">
                          <a:solidFill>
                            <a:srgbClr val="1C2230"/>
                          </a:solidFill>
                          <a:latin typeface="Arial"/>
                        </a:rPr>
                        <a:t>Demo accounts without passwords · data stays in one browser · no messaging outside the app</a:t>
                      </a:r>
                    </a:p>
                  </a:txBody>
                  <a:tcPr>
                    <a:solidFill>
                      <a:srgbClr val="FFFFFF"/>
                    </a:solidFill>
                  </a:tcPr>
                </a:tc>
              </a:tr>
              <a:tr h="700000">
                <a:tc>
                  <a:txBody>
                    <a:bodyPr/>
                    <a:lstStyle/>
                    <a:p>
                      <a:r>
                        <a:rPr sz="1400" b="1">
                          <a:solidFill>
                            <a:srgbClr val="1C2230"/>
                          </a:solidFill>
                          <a:latin typeface="Courier New"/>
                        </a:rPr>
                        <a:t>Next</a:t>
                      </a:r>
                    </a:p>
                  </a:txBody>
                  <a:tcPr>
                    <a:solidFill>
                      <a:srgbClr val="F4F6F9"/>
                    </a:solidFill>
                  </a:tcPr>
                </a:tc>
                <a:tc>
                  <a:txBody>
                    <a:bodyPr/>
                    <a:lstStyle/>
                    <a:p>
                      <a:r>
                        <a:rPr sz="1500" b="0">
                          <a:solidFill>
                            <a:srgbClr val="1C2230"/>
                          </a:solidFill>
                          <a:latin typeface="Arial"/>
                        </a:rPr>
                        <a:t>Server-side database and login · KakaoTalk notifications · field test in the reference store</a:t>
                      </a:r>
                    </a:p>
                  </a:txBody>
                  <a:tcP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