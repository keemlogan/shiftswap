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0.5 min]</a:t>
            </a:r>
          </a:p>
          <a:p>
            <a:r>
              <a:t>Good afternoon. We are Team 7. Our project is ShiftSwap, a system that manages part-time shift schedules and substitute requests in small stores. Hyewon will present the problem and the requirements, I will present the design and how we built it with vibe coding, and Minkyung will show the system, the tests and our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0.8 min]</a:t>
            </a:r>
          </a:p>
          <a:p>
            <a:r>
              <a:t>This is a real situation from the café where I work. When a worker cannot come, the owner phones the other workers one at a time. In our store that is usually three to five contacts per request. After someone agrees, the owner edits the spreadsheet, and at month end has to check again whether each of the two workers still qualifies for the weekly holiday allowance.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0.9 min]</a:t>
            </a:r>
          </a:p>
          <a:p>
            <a:r>
              <a:t>We grouped the difficulties into three problems. P1 is the cost of finding a substitute. P2 is that every swap changes two workers' schedules and weekly hours, and nothing recalculates them. P3 is that labour-law pay rules are applied from memory, so mistakes are found only on payday, if at 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0.9 min]</a:t>
            </a:r>
          </a:p>
          <a:p>
            <a:r>
              <a:t>From interviews and the legal sources we wrote twenty-one functional requirements and twelve non-functional requirements, classified as product, organisational and external requirements as in Chapter 8. The core logic is captured in twelve business rules, and the data in twelve tables. This is well above the course minimum of five use cases and four tables.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1.2 min]</a:t>
            </a:r>
          </a:p>
          <a:p>
            <a:r>
              <a:t>This diagram shows the substitution part of the use-case model. A worker requests a substitute; the request includes finding eligible candidates. A candidate responds, and the owner approves, which includes recomputing the weekly hours. Cancellation by the worker and expiry by the system clock extend the request use case.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1.2 min]</a:t>
            </a:r>
          </a:p>
          <a:p>
            <a:r>
              <a:t>The legal rules became business rules that can be tested. For example, the holiday allowance exists only when the contract has at least fifteen hours a week and the worker was not absent; the hours are capped at forty. Because handing a shift over is legally unclear, the attendance effect of a swap is a setting the owner chooses. I now hand over to Hyoungdo.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0.9 min]</a:t>
            </a:r>
          </a:p>
          <a:p>
            <a:r>
              <a:t>The system runs entirely in the browser, so it can be hosted on GitHub Pages without a server. The user interface calls application services, one per use-case step. The services call pure rule functions that contain no database code, which is why every rule can be unit-tested. The data lives in a real SQLite database compiled to WebAssembly and is saved in the browser.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1.0 min]</a:t>
            </a:r>
          </a:p>
          <a:p>
            <a:r>
              <a:t>The most delicate interaction is two candidates accepting at almost the same time. Each acceptance runs in one transaction that first re-reads the request state. Only the first finds it REQUESTED; the second sees ACCEPTED, rolls back, and the worker is told who already took the shift.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0.9 min]</a:t>
            </a:r>
          </a:p>
          <a:p>
            <a:r>
              <a:t>This state diagram is the contract between screens, services and tests: every transition has a triggering function and at least one test. For example, a request that reaches its deadline or its shift start without approval expires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1.4 min]</a:t>
            </a:r>
          </a:p>
          <a:p>
            <a:r>
              <a:t>We did not write code by hand. We wrote one prompt that treats the specification as a contract, and let the AI coding assistant build the system. Every ambiguity the build found went into a prompt log and back into the specification. Three versions were needed. Finally we re-ran the last prompt in an empty folder to check that it reproduces the system. I hand over to Minkyung.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1.2 min]</a:t>
            </a:r>
          </a:p>
          <a:p>
            <a:r>
              <a:t>Here is the system with our demo café. Seoyeon requested a substitute for Wednesday. The system found two eligible co-workers and notified both at once. Minho accepts directly from his inbox. When Doyun tries a moment later, he is told the shift is already taken by Minho.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1.2 min]</a:t>
            </a:r>
          </a:p>
          <a:p>
            <a:r>
              <a:t>Before approving, the owner sees the effect on both workers. Minho's scheduled hours rise from sixteen to twenty-one, but his contract hours stay sixteen, so he keeps the holiday allowance of three point two hours, which is 33,024 won. After approval the board shows the handover in amber.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0.9 min]</a:t>
            </a:r>
          </a:p>
          <a:p>
            <a:r>
              <a:t>At month end the owner generates payroll. Doyun's hourly wage is below the 2026 minimum wage, so the row is flagged and the month cannot be confirmed until the owner acknowledges the warning.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1.0 min]</a:t>
            </a:r>
          </a:p>
          <a:p>
            <a:r>
              <a:t>All 58 automated tests pass. They include boundary values such as fourteen point nine nine versus fifteen hours, the forty-hour cap, both attendance policies, and the concurrent acceptance. The traceability matrix in the report links every functional requirement to its use case, screen, function and tests.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1.0 min]</a:t>
            </a:r>
          </a:p>
          <a:p>
            <a:r>
              <a:t>To sum up: the owner no longer contacts workers one by one, candidates answer in two clicks, and every swap updates both workers' hours and pay eligibility. The limits are those of a client-only demo: no real login and data kept in one browser. The next step would be a server and a field test in the café.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00" y="2300000"/>
            <a:ext cx="900000" cy="90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00" y="2500000"/>
            <a:ext cx="10912000" cy="1200000"/>
          </a:xfrm>
          <a:prstGeom prst="rect">
            <a:avLst/>
          </a:prstGeom>
          <a:noFill/>
        </p:spPr>
        <p:txBody>
          <a:bodyPr wrap="square">
            <a:spAutoFit/>
          </a:bodyPr>
          <a:lstStyle/>
          <a:p>
            <a:pPr algn="l">
              <a:spcAft>
                <a:spcPts val="3000"/>
              </a:spcAft>
            </a:pPr>
            <a:r>
              <a:rPr sz="6000" b="1">
                <a:solidFill>
                  <a:srgbClr val="FFFFFF"/>
                </a:solidFill>
                <a:latin typeface="Arial"/>
              </a:rPr>
              <a:t>ShiftSwap</a:t>
            </a:r>
          </a:p>
        </p:txBody>
      </p:sp>
      <p:sp>
        <p:nvSpPr>
          <p:cNvPr id="5" name="TextBox 4"/>
          <p:cNvSpPr txBox="1"/>
          <p:nvPr/>
        </p:nvSpPr>
        <p:spPr>
          <a:xfrm>
            <a:off x="640000" y="3500000"/>
            <a:ext cx="9000000" cy="900000"/>
          </a:xfrm>
          <a:prstGeom prst="rect">
            <a:avLst/>
          </a:prstGeom>
          <a:noFill/>
        </p:spPr>
        <p:txBody>
          <a:bodyPr wrap="square">
            <a:spAutoFit/>
          </a:bodyPr>
          <a:lstStyle/>
          <a:p>
            <a:pPr algn="l">
              <a:spcAft>
                <a:spcPts val="1100"/>
              </a:spcAft>
            </a:pPr>
            <a:r>
              <a:rPr sz="2200" b="0">
                <a:solidFill>
                  <a:srgbClr val="D6DBE5"/>
                </a:solidFill>
                <a:latin typeface="Arial"/>
              </a:rPr>
              <a:t>A shift schedule and substitute management system for small part-time workplaces</a:t>
            </a:r>
          </a:p>
        </p:txBody>
      </p:sp>
      <p:sp>
        <p:nvSpPr>
          <p:cNvPr id="6" name="TextBox 5"/>
          <p:cNvSpPr txBox="1"/>
          <p:nvPr/>
        </p:nvSpPr>
        <p:spPr>
          <a:xfrm>
            <a:off x="640000" y="5000000"/>
            <a:ext cx="10912000" cy="900000"/>
          </a:xfrm>
          <a:prstGeom prst="rect">
            <a:avLst/>
          </a:prstGeom>
          <a:noFill/>
        </p:spPr>
        <p:txBody>
          <a:bodyPr wrap="square">
            <a:spAutoFit/>
          </a:bodyPr>
          <a:lstStyle/>
          <a:p>
            <a:pPr algn="l">
              <a:spcAft>
                <a:spcPts val="700"/>
              </a:spcAft>
            </a:pPr>
            <a:r>
              <a:rPr sz="1400" b="0">
                <a:solidFill>
                  <a:srgbClr val="B9C0CE"/>
                </a:solidFill>
                <a:latin typeface="Arial"/>
              </a:rPr>
              <a:t>Team 7 · Software Engineering, Fall 2026 · SeoulTech</a:t>
            </a:r>
          </a:p>
          <a:p>
            <a:pPr algn="l">
              <a:spcAft>
                <a:spcPts val="700"/>
              </a:spcAft>
            </a:pPr>
            <a:r>
              <a:rPr sz="1400" b="0">
                <a:solidFill>
                  <a:srgbClr val="B9C0CE"/>
                </a:solidFill>
                <a:latin typeface="Arial"/>
              </a:rPr>
              <a:t>Hyewon Kim · Hyoungdo Kim · Minkyung Kim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One exam, five phone calls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2 / 15   ·   Hyewon Kim</a:t>
            </a:r>
          </a:p>
        </p:txBody>
      </p:sp>
      <p:sp>
        <p:nvSpPr>
          <p:cNvPr id="5" name="TextBox 4"/>
          <p:cNvSpPr txBox="1"/>
          <p:nvPr/>
        </p:nvSpPr>
        <p:spPr>
          <a:xfrm>
            <a:off x="640000" y="1450000"/>
            <a:ext cx="10400000" cy="4000000"/>
          </a:xfrm>
          <a:prstGeom prst="rect">
            <a:avLst/>
          </a:prstGeom>
          <a:noFill/>
        </p:spPr>
        <p:txBody>
          <a:bodyPr wrap="square">
            <a:spAutoFit/>
          </a:bodyPr>
          <a:lstStyle/>
          <a:p>
            <a:pPr algn="l">
              <a:spcAft>
                <a:spcPts val="1300"/>
              </a:spcAft>
            </a:pPr>
            <a:r>
              <a:rPr sz="2600" b="0">
                <a:solidFill>
                  <a:srgbClr val="1C2230"/>
                </a:solidFill>
                <a:latin typeface="Arial"/>
              </a:rPr>
              <a:t>Wednesday 18:00–23:00 — Seoyeon has a midterm exam.</a:t>
            </a:r>
          </a:p>
          <a:p>
            <a:pPr algn="l">
              <a:spcAft>
                <a:spcPts val="1300"/>
              </a:spcAft>
            </a:pPr>
            <a:r>
              <a:rPr sz="2600" b="0">
                <a:solidFill>
                  <a:srgbClr val="1C2230"/>
                </a:solidFill>
                <a:latin typeface="Arial"/>
              </a:rPr>
              <a:t>The owner calls co-workers one by one until someone says yes.</a:t>
            </a:r>
          </a:p>
          <a:p>
            <a:pPr algn="l">
              <a:spcAft>
                <a:spcPts val="1300"/>
              </a:spcAft>
            </a:pPr>
            <a:r>
              <a:rPr sz="2600" b="0">
                <a:solidFill>
                  <a:srgbClr val="1C2230"/>
                </a:solidFill>
                <a:latin typeface="Arial"/>
              </a:rPr>
              <a:t>Then edits the spreadsheet, and later re-checks two workers' weekly hours for holiday allowance.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Three problems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3 / 15   ·   Hyewon Kim</a:t>
            </a:r>
          </a:p>
        </p:txBody>
      </p:sp>
      <p:sp>
        <p:nvSpPr>
          <p:cNvPr id="5" name="Rectangle 4"/>
          <p:cNvSpPr/>
          <p:nvPr/>
        </p:nvSpPr>
        <p:spPr>
          <a:xfrm>
            <a:off x="640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0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P1</a:t>
            </a:r>
          </a:p>
        </p:txBody>
      </p:sp>
      <p:sp>
        <p:nvSpPr>
          <p:cNvPr id="7" name="TextBox 6"/>
          <p:cNvSpPr txBox="1"/>
          <p:nvPr/>
        </p:nvSpPr>
        <p:spPr>
          <a:xfrm>
            <a:off x="840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Finding a substitute</a:t>
            </a:r>
          </a:p>
        </p:txBody>
      </p:sp>
      <p:sp>
        <p:nvSpPr>
          <p:cNvPr id="8" name="TextBox 7"/>
          <p:cNvSpPr txBox="1"/>
          <p:nvPr/>
        </p:nvSpPr>
        <p:spPr>
          <a:xfrm>
            <a:off x="840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Repeated one-to-one contacts for every request (3–5 in the reference store).</a:t>
            </a:r>
          </a:p>
        </p:txBody>
      </p:sp>
      <p:sp>
        <p:nvSpPr>
          <p:cNvPr id="9" name="Rectangle 8"/>
          <p:cNvSpPr/>
          <p:nvPr/>
        </p:nvSpPr>
        <p:spPr>
          <a:xfrm>
            <a:off x="4344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P2</a:t>
            </a:r>
          </a:p>
        </p:txBody>
      </p:sp>
      <p:sp>
        <p:nvSpPr>
          <p:cNvPr id="11" name="TextBox 10"/>
          <p:cNvSpPr txBox="1"/>
          <p:nvPr/>
        </p:nvSpPr>
        <p:spPr>
          <a:xfrm>
            <a:off x="4544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Keeping records right</a:t>
            </a:r>
          </a:p>
        </p:txBody>
      </p:sp>
      <p:sp>
        <p:nvSpPr>
          <p:cNvPr id="12" name="TextBox 11"/>
          <p:cNvSpPr txBox="1"/>
          <p:nvPr/>
        </p:nvSpPr>
        <p:spPr>
          <a:xfrm>
            <a:off x="4544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Every swap changes the schedule and weekly hours of two workers; all recalculation is manual.</a:t>
            </a:r>
          </a:p>
        </p:txBody>
      </p:sp>
      <p:sp>
        <p:nvSpPr>
          <p:cNvPr id="13" name="Rectangle 12"/>
          <p:cNvSpPr/>
          <p:nvPr/>
        </p:nvSpPr>
        <p:spPr>
          <a:xfrm>
            <a:off x="8048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48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P3</a:t>
            </a:r>
          </a:p>
        </p:txBody>
      </p:sp>
      <p:sp>
        <p:nvSpPr>
          <p:cNvPr id="15" name="TextBox 14"/>
          <p:cNvSpPr txBox="1"/>
          <p:nvPr/>
        </p:nvSpPr>
        <p:spPr>
          <a:xfrm>
            <a:off x="8248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Applying pay law</a:t>
            </a:r>
          </a:p>
        </p:txBody>
      </p:sp>
      <p:sp>
        <p:nvSpPr>
          <p:cNvPr id="16" name="TextBox 15"/>
          <p:cNvSpPr txBox="1"/>
          <p:nvPr/>
        </p:nvSpPr>
        <p:spPr>
          <a:xfrm>
            <a:off x="8248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Minimum wage, 15-hour holiday-allowance threshold, 5-employee premium rule and probation are applied from memory.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Requirements in numbers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4 / 15   ·   Hyewon Kim</a:t>
            </a:r>
          </a:p>
        </p:txBody>
      </p:sp>
      <p:sp>
        <p:nvSpPr>
          <p:cNvPr id="5" name="TextBox 4"/>
          <p:cNvSpPr txBox="1"/>
          <p:nvPr/>
        </p:nvSpPr>
        <p:spPr>
          <a:xfrm>
            <a:off x="640000"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3</a:t>
            </a:r>
          </a:p>
        </p:txBody>
      </p:sp>
      <p:sp>
        <p:nvSpPr>
          <p:cNvPr id="6" name="TextBox 5"/>
          <p:cNvSpPr txBox="1"/>
          <p:nvPr/>
        </p:nvSpPr>
        <p:spPr>
          <a:xfrm>
            <a:off x="640000"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actors</a:t>
            </a:r>
          </a:p>
        </p:txBody>
      </p:sp>
      <p:sp>
        <p:nvSpPr>
          <p:cNvPr id="7" name="TextBox 6"/>
          <p:cNvSpPr txBox="1"/>
          <p:nvPr/>
        </p:nvSpPr>
        <p:spPr>
          <a:xfrm>
            <a:off x="640000"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Worker, Owner, System Clock</a:t>
            </a:r>
          </a:p>
        </p:txBody>
      </p:sp>
      <p:sp>
        <p:nvSpPr>
          <p:cNvPr id="8" name="TextBox 7"/>
          <p:cNvSpPr txBox="1"/>
          <p:nvPr/>
        </p:nvSpPr>
        <p:spPr>
          <a:xfrm>
            <a:off x="4277333"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13</a:t>
            </a:r>
          </a:p>
        </p:txBody>
      </p:sp>
      <p:sp>
        <p:nvSpPr>
          <p:cNvPr id="9" name="TextBox 8"/>
          <p:cNvSpPr txBox="1"/>
          <p:nvPr/>
        </p:nvSpPr>
        <p:spPr>
          <a:xfrm>
            <a:off x="4277333"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use cases</a:t>
            </a:r>
          </a:p>
        </p:txBody>
      </p:sp>
      <p:sp>
        <p:nvSpPr>
          <p:cNvPr id="10" name="TextBox 9"/>
          <p:cNvSpPr txBox="1"/>
          <p:nvPr/>
        </p:nvSpPr>
        <p:spPr>
          <a:xfrm>
            <a:off x="4277333"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9 core, all traced to screens</a:t>
            </a:r>
          </a:p>
        </p:txBody>
      </p:sp>
      <p:sp>
        <p:nvSpPr>
          <p:cNvPr id="11" name="TextBox 10"/>
          <p:cNvSpPr txBox="1"/>
          <p:nvPr/>
        </p:nvSpPr>
        <p:spPr>
          <a:xfrm>
            <a:off x="7914666"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21</a:t>
            </a:r>
          </a:p>
        </p:txBody>
      </p:sp>
      <p:sp>
        <p:nvSpPr>
          <p:cNvPr id="12" name="TextBox 11"/>
          <p:cNvSpPr txBox="1"/>
          <p:nvPr/>
        </p:nvSpPr>
        <p:spPr>
          <a:xfrm>
            <a:off x="7914666"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functional req.</a:t>
            </a:r>
          </a:p>
        </p:txBody>
      </p:sp>
      <p:sp>
        <p:nvSpPr>
          <p:cNvPr id="13" name="TextBox 12"/>
          <p:cNvSpPr txBox="1"/>
          <p:nvPr/>
        </p:nvSpPr>
        <p:spPr>
          <a:xfrm>
            <a:off x="7914666"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FR-01 … FR-21</a:t>
            </a:r>
          </a:p>
        </p:txBody>
      </p:sp>
      <p:sp>
        <p:nvSpPr>
          <p:cNvPr id="14" name="TextBox 13"/>
          <p:cNvSpPr txBox="1"/>
          <p:nvPr/>
        </p:nvSpPr>
        <p:spPr>
          <a:xfrm>
            <a:off x="640000"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12</a:t>
            </a:r>
          </a:p>
        </p:txBody>
      </p:sp>
      <p:sp>
        <p:nvSpPr>
          <p:cNvPr id="15" name="TextBox 14"/>
          <p:cNvSpPr txBox="1"/>
          <p:nvPr/>
        </p:nvSpPr>
        <p:spPr>
          <a:xfrm>
            <a:off x="640000"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non-functional req.</a:t>
            </a:r>
          </a:p>
        </p:txBody>
      </p:sp>
      <p:sp>
        <p:nvSpPr>
          <p:cNvPr id="16" name="TextBox 15"/>
          <p:cNvSpPr txBox="1"/>
          <p:nvPr/>
        </p:nvSpPr>
        <p:spPr>
          <a:xfrm>
            <a:off x="640000"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Product · Organisational · External</a:t>
            </a:r>
          </a:p>
        </p:txBody>
      </p:sp>
      <p:sp>
        <p:nvSpPr>
          <p:cNvPr id="17" name="TextBox 16"/>
          <p:cNvSpPr txBox="1"/>
          <p:nvPr/>
        </p:nvSpPr>
        <p:spPr>
          <a:xfrm>
            <a:off x="4277333"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12</a:t>
            </a:r>
          </a:p>
        </p:txBody>
      </p:sp>
      <p:sp>
        <p:nvSpPr>
          <p:cNvPr id="18" name="TextBox 17"/>
          <p:cNvSpPr txBox="1"/>
          <p:nvPr/>
        </p:nvSpPr>
        <p:spPr>
          <a:xfrm>
            <a:off x="4277333"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business rules</a:t>
            </a:r>
          </a:p>
        </p:txBody>
      </p:sp>
      <p:sp>
        <p:nvSpPr>
          <p:cNvPr id="19" name="TextBox 18"/>
          <p:cNvSpPr txBox="1"/>
          <p:nvPr/>
        </p:nvSpPr>
        <p:spPr>
          <a:xfrm>
            <a:off x="4277333"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BR-01 … BR-12, each tested</a:t>
            </a:r>
          </a:p>
        </p:txBody>
      </p:sp>
      <p:sp>
        <p:nvSpPr>
          <p:cNvPr id="20" name="TextBox 19"/>
          <p:cNvSpPr txBox="1"/>
          <p:nvPr/>
        </p:nvSpPr>
        <p:spPr>
          <a:xfrm>
            <a:off x="7914666"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12</a:t>
            </a:r>
          </a:p>
        </p:txBody>
      </p:sp>
      <p:sp>
        <p:nvSpPr>
          <p:cNvPr id="21" name="TextBox 20"/>
          <p:cNvSpPr txBox="1"/>
          <p:nvPr/>
        </p:nvSpPr>
        <p:spPr>
          <a:xfrm>
            <a:off x="7914666"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tables</a:t>
            </a:r>
          </a:p>
        </p:txBody>
      </p:sp>
      <p:sp>
        <p:nvSpPr>
          <p:cNvPr id="22" name="TextBox 21"/>
          <p:cNvSpPr txBox="1"/>
          <p:nvPr/>
        </p:nvSpPr>
        <p:spPr>
          <a:xfrm>
            <a:off x="7914666"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SQLite schema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Use cases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5 / 15   ·   Hyewon Kim</a:t>
            </a:r>
          </a:p>
        </p:txBody>
      </p:sp>
      <p:pic>
        <p:nvPicPr>
          <p:cNvPr id="5" name="Picture 4" descr="usecase-substitute.png"/>
          <p:cNvPicPr>
            <a:picLocks noChangeAspect="1"/>
          </p:cNvPicPr>
          <p:nvPr/>
        </p:nvPicPr>
        <p:blipFill>
          <a:blip r:embed="rId2"/>
          <a:stretch>
            <a:fillRect/>
          </a:stretch>
        </p:blipFill>
        <p:spPr>
          <a:xfrm>
            <a:off x="640000" y="1289140"/>
            <a:ext cx="10912000" cy="437172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Substitution use cases with «include» / «extend» (overview of all 13 in the report)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Pay law as testable rules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6 / 15   ·   Hyewon Kim</a:t>
            </a:r>
          </a:p>
        </p:txBody>
      </p:sp>
      <p:graphicFrame>
        <p:nvGraphicFramePr>
          <p:cNvPr id="5" name="Table 4"/>
          <p:cNvGraphicFramePr>
            <a:graphicFrameLocks noGrp="1"/>
          </p:cNvGraphicFramePr>
          <p:nvPr/>
        </p:nvGraphicFramePr>
        <p:xfrm>
          <a:off x="640000" y="1450000"/>
          <a:ext cx="10912000" cy="2800000"/>
        </p:xfrm>
        <a:graphic>
          <a:graphicData uri="http://schemas.openxmlformats.org/drawingml/2006/table">
            <a:tbl>
              <a:tblPr firstRow="1" bandRow="1">
                <a:tableStyleId>{5C22544A-7EE6-4342-B048-85BDC9FD1C3A}</a:tableStyleId>
              </a:tblPr>
              <a:tblGrid>
                <a:gridCol w="1309440"/>
                <a:gridCol w="5237760"/>
                <a:gridCol w="4364800"/>
              </a:tblGrid>
              <a:tr h="700000">
                <a:tc>
                  <a:txBody>
                    <a:bodyPr/>
                    <a:lstStyle/>
                    <a:p>
                      <a:r>
                        <a:rPr sz="1400" b="1">
                          <a:solidFill>
                            <a:srgbClr val="1C2230"/>
                          </a:solidFill>
                          <a:latin typeface="Courier New"/>
                        </a:rPr>
                        <a:t>BR-06</a:t>
                      </a:r>
                    </a:p>
                  </a:txBody>
                  <a:tcPr>
                    <a:solidFill>
                      <a:srgbClr val="F4F6F9"/>
                    </a:solidFill>
                  </a:tcPr>
                </a:tc>
                <a:tc>
                  <a:txBody>
                    <a:bodyPr/>
                    <a:lstStyle/>
                    <a:p>
                      <a:r>
                        <a:rPr sz="1500" b="0">
                          <a:solidFill>
                            <a:srgbClr val="1C2230"/>
                          </a:solidFill>
                          <a:latin typeface="Arial"/>
                        </a:rPr>
                        <a:t>Holiday allowance only with ≥ 15 contract hours a week and no absence</a:t>
                      </a:r>
                    </a:p>
                  </a:txBody>
                  <a:tcPr>
                    <a:solidFill>
                      <a:srgbClr val="FFFFFF"/>
                    </a:solidFill>
                  </a:tcPr>
                </a:tc>
                <a:tc>
                  <a:txBody>
                    <a:bodyPr/>
                    <a:lstStyle/>
                    <a:p>
                      <a:r>
                        <a:rPr sz="1500" b="0">
                          <a:solidFill>
                            <a:srgbClr val="1C2230"/>
                          </a:solidFill>
                          <a:latin typeface="Arial"/>
                        </a:rPr>
                        <a:t>Labor Standards Act Art. 18 ③, 55</a:t>
                      </a:r>
                    </a:p>
                  </a:txBody>
                  <a:tcPr>
                    <a:solidFill>
                      <a:srgbClr val="FFFFFF"/>
                    </a:solidFill>
                  </a:tcPr>
                </a:tc>
              </a:tr>
              <a:tr h="700000">
                <a:tc>
                  <a:txBody>
                    <a:bodyPr/>
                    <a:lstStyle/>
                    <a:p>
                      <a:r>
                        <a:rPr sz="1400" b="1">
                          <a:solidFill>
                            <a:srgbClr val="1C2230"/>
                          </a:solidFill>
                          <a:latin typeface="Courier New"/>
                        </a:rPr>
                        <a:t>BR-07</a:t>
                      </a:r>
                    </a:p>
                  </a:txBody>
                  <a:tcPr>
                    <a:solidFill>
                      <a:srgbClr val="F4F6F9"/>
                    </a:solidFill>
                  </a:tcPr>
                </a:tc>
                <a:tc>
                  <a:txBody>
                    <a:bodyPr/>
                    <a:lstStyle/>
                    <a:p>
                      <a:r>
                        <a:rPr sz="1500" b="0">
                          <a:solidFill>
                            <a:srgbClr val="1C2230"/>
                          </a:solidFill>
                          <a:latin typeface="Arial"/>
                        </a:rPr>
                        <a:t>Holiday hours = min(hours, 40) ÷ 40 × 8</a:t>
                      </a:r>
                    </a:p>
                  </a:txBody>
                  <a:tcPr>
                    <a:solidFill>
                      <a:srgbClr val="FFFFFF"/>
                    </a:solidFill>
                  </a:tcPr>
                </a:tc>
                <a:tc>
                  <a:txBody>
                    <a:bodyPr/>
                    <a:lstStyle/>
                    <a:p>
                      <a:r>
                        <a:rPr sz="1500" b="0">
                          <a:solidFill>
                            <a:srgbClr val="1C2230"/>
                          </a:solidFill>
                          <a:latin typeface="Arial"/>
                        </a:rPr>
                        <a:t>Enforcement Decree Art. 30</a:t>
                      </a:r>
                    </a:p>
                  </a:txBody>
                  <a:tcPr>
                    <a:solidFill>
                      <a:srgbClr val="FFFFFF"/>
                    </a:solidFill>
                  </a:tcPr>
                </a:tc>
              </a:tr>
              <a:tr h="700000">
                <a:tc>
                  <a:txBody>
                    <a:bodyPr/>
                    <a:lstStyle/>
                    <a:p>
                      <a:r>
                        <a:rPr sz="1400" b="1">
                          <a:solidFill>
                            <a:srgbClr val="1C2230"/>
                          </a:solidFill>
                          <a:latin typeface="Courier New"/>
                        </a:rPr>
                        <a:t>BR-08</a:t>
                      </a:r>
                    </a:p>
                  </a:txBody>
                  <a:tcPr>
                    <a:solidFill>
                      <a:srgbClr val="F4F6F9"/>
                    </a:solidFill>
                  </a:tcPr>
                </a:tc>
                <a:tc>
                  <a:txBody>
                    <a:bodyPr/>
                    <a:lstStyle/>
                    <a:p>
                      <a:r>
                        <a:rPr sz="1500" b="0">
                          <a:solidFill>
                            <a:srgbClr val="1C2230"/>
                          </a:solidFill>
                          <a:latin typeface="Arial"/>
                        </a:rPr>
                        <a:t>50 % premiums only with 5 or more regular employees</a:t>
                      </a:r>
                    </a:p>
                  </a:txBody>
                  <a:tcPr>
                    <a:solidFill>
                      <a:srgbClr val="FFFFFF"/>
                    </a:solidFill>
                  </a:tcPr>
                </a:tc>
                <a:tc>
                  <a:txBody>
                    <a:bodyPr/>
                    <a:lstStyle/>
                    <a:p>
                      <a:r>
                        <a:rPr sz="1500" b="0">
                          <a:solidFill>
                            <a:srgbClr val="1C2230"/>
                          </a:solidFill>
                          <a:latin typeface="Arial"/>
                        </a:rPr>
                        <a:t>Art. 11, 56</a:t>
                      </a:r>
                    </a:p>
                  </a:txBody>
                  <a:tcPr>
                    <a:solidFill>
                      <a:srgbClr val="FFFFFF"/>
                    </a:solidFill>
                  </a:tcPr>
                </a:tc>
              </a:tr>
              <a:tr h="700000">
                <a:tc>
                  <a:txBody>
                    <a:bodyPr/>
                    <a:lstStyle/>
                    <a:p>
                      <a:r>
                        <a:rPr sz="1400" b="1">
                          <a:solidFill>
                            <a:srgbClr val="1C2230"/>
                          </a:solidFill>
                          <a:latin typeface="Courier New"/>
                        </a:rPr>
                        <a:t>BR-09/10</a:t>
                      </a:r>
                    </a:p>
                  </a:txBody>
                  <a:tcPr>
                    <a:solidFill>
                      <a:srgbClr val="F4F6F9"/>
                    </a:solidFill>
                  </a:tcPr>
                </a:tc>
                <a:tc>
                  <a:txBody>
                    <a:bodyPr/>
                    <a:lstStyle/>
                    <a:p>
                      <a:r>
                        <a:rPr sz="1500" b="0">
                          <a:solidFill>
                            <a:srgbClr val="1C2230"/>
                          </a:solidFill>
                          <a:latin typeface="Arial"/>
                        </a:rPr>
                        <a:t>Warn below KRW 10,320; 90 % only in qualifying probation</a:t>
                      </a:r>
                    </a:p>
                  </a:txBody>
                  <a:tcPr>
                    <a:solidFill>
                      <a:srgbClr val="FFFFFF"/>
                    </a:solidFill>
                  </a:tcPr>
                </a:tc>
                <a:tc>
                  <a:txBody>
                    <a:bodyPr/>
                    <a:lstStyle/>
                    <a:p>
                      <a:r>
                        <a:rPr sz="1500" b="0">
                          <a:solidFill>
                            <a:srgbClr val="1C2230"/>
                          </a:solidFill>
                          <a:latin typeface="Arial"/>
                        </a:rPr>
                        <a:t>Minimum Wage Act Art. 5 ②</a:t>
                      </a:r>
                    </a:p>
                  </a:txBody>
                  <a:tcP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Architecture: a client-only web app</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7 / 15   ·   Hyoungdo Kim</a:t>
            </a:r>
          </a:p>
        </p:txBody>
      </p:sp>
      <p:pic>
        <p:nvPicPr>
          <p:cNvPr id="5" name="Picture 4" descr="component.png"/>
          <p:cNvPicPr>
            <a:picLocks noChangeAspect="1"/>
          </p:cNvPicPr>
          <p:nvPr/>
        </p:nvPicPr>
        <p:blipFill>
          <a:blip r:embed="rId2"/>
          <a:stretch>
            <a:fillRect/>
          </a:stretch>
        </p:blipFill>
        <p:spPr>
          <a:xfrm>
            <a:off x="1037618" y="1250000"/>
            <a:ext cx="10116763"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Presentation → application services → pure rules → SQLite (sql.js, WebAssembly) → localStorage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First acceptance wins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8 / 15   ·   Hyoungdo Kim</a:t>
            </a:r>
          </a:p>
        </p:txBody>
      </p:sp>
      <p:pic>
        <p:nvPicPr>
          <p:cNvPr id="5" name="Picture 4" descr="seq-2-accept.png"/>
          <p:cNvPicPr>
            <a:picLocks noChangeAspect="1"/>
          </p:cNvPicPr>
          <p:nvPr/>
        </p:nvPicPr>
        <p:blipFill>
          <a:blip r:embed="rId2"/>
          <a:stretch>
            <a:fillRect/>
          </a:stretch>
        </p:blipFill>
        <p:spPr>
          <a:xfrm>
            <a:off x="3410453" y="1250000"/>
            <a:ext cx="5371094"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Sequence SD-2: the second acceptance re-checks the state inside its transaction and is refused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Life of a substitute request</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9 / 15   ·   Hyoungdo Kim</a:t>
            </a:r>
          </a:p>
        </p:txBody>
      </p:sp>
      <p:pic>
        <p:nvPicPr>
          <p:cNvPr id="5" name="Picture 4" descr="state-subrequest.png"/>
          <p:cNvPicPr>
            <a:picLocks noChangeAspect="1"/>
          </p:cNvPicPr>
          <p:nvPr/>
        </p:nvPicPr>
        <p:blipFill>
          <a:blip r:embed="rId2"/>
          <a:stretch>
            <a:fillRect/>
          </a:stretch>
        </p:blipFill>
        <p:spPr>
          <a:xfrm>
            <a:off x="640000" y="1502363"/>
            <a:ext cx="10912000" cy="3945274"/>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State diagram: REQUESTED → ACCEPTED → APPROVED / REJECTED, with EXPIRED and CANCELLED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Vibe coding: three prompt versions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10 / 15   ·   Hyoungdo Kim</a:t>
            </a:r>
          </a:p>
        </p:txBody>
      </p:sp>
      <p:graphicFrame>
        <p:nvGraphicFramePr>
          <p:cNvPr id="5" name="Table 4"/>
          <p:cNvGraphicFramePr>
            <a:graphicFrameLocks noGrp="1"/>
          </p:cNvGraphicFramePr>
          <p:nvPr/>
        </p:nvGraphicFramePr>
        <p:xfrm>
          <a:off x="640000" y="1450000"/>
          <a:ext cx="10912000" cy="2800000"/>
        </p:xfrm>
        <a:graphic>
          <a:graphicData uri="http://schemas.openxmlformats.org/drawingml/2006/table">
            <a:tbl>
              <a:tblPr firstRow="1" bandRow="1">
                <a:tableStyleId>{5C22544A-7EE6-4342-B048-85BDC9FD1C3A}</a:tableStyleId>
              </a:tblPr>
              <a:tblGrid>
                <a:gridCol w="1309440"/>
                <a:gridCol w="5237760"/>
                <a:gridCol w="4364800"/>
              </a:tblGrid>
              <a:tr h="700000">
                <a:tc>
                  <a:txBody>
                    <a:bodyPr/>
                    <a:lstStyle/>
                    <a:p>
                      <a:r>
                        <a:rPr sz="1400" b="1">
                          <a:solidFill>
                            <a:srgbClr val="1C2230"/>
                          </a:solidFill>
                          <a:latin typeface="Courier New"/>
                        </a:rPr>
                        <a:t>v1</a:t>
                      </a:r>
                    </a:p>
                  </a:txBody>
                  <a:tcPr>
                    <a:solidFill>
                      <a:srgbClr val="F4F6F9"/>
                    </a:solidFill>
                  </a:tcPr>
                </a:tc>
                <a:tc>
                  <a:txBody>
                    <a:bodyPr/>
                    <a:lstStyle/>
                    <a:p>
                      <a:r>
                        <a:rPr sz="1500" b="0">
                          <a:solidFill>
                            <a:srgbClr val="1C2230"/>
                          </a:solidFill>
                          <a:latin typeface="Arial"/>
                        </a:rPr>
                        <a:t>Specification + technology, screens, design, done criteria</a:t>
                      </a:r>
                    </a:p>
                  </a:txBody>
                  <a:tcPr>
                    <a:solidFill>
                      <a:srgbClr val="FFFFFF"/>
                    </a:solidFill>
                  </a:tcPr>
                </a:tc>
                <a:tc>
                  <a:txBody>
                    <a:bodyPr/>
                    <a:lstStyle/>
                    <a:p>
                      <a:r>
                        <a:rPr sz="1500" b="0">
                          <a:solidFill>
                            <a:srgbClr val="1C2230"/>
                          </a:solidFill>
                          <a:latin typeface="Arial"/>
                        </a:rPr>
                        <a:t>App built; 21 ambiguities logged by the build</a:t>
                      </a:r>
                    </a:p>
                  </a:txBody>
                  <a:tcPr>
                    <a:solidFill>
                      <a:srgbClr val="FFFFFF"/>
                    </a:solidFill>
                  </a:tcPr>
                </a:tc>
              </a:tr>
              <a:tr h="700000">
                <a:tc>
                  <a:txBody>
                    <a:bodyPr/>
                    <a:lstStyle/>
                    <a:p>
                      <a:r>
                        <a:rPr sz="1400" b="1">
                          <a:solidFill>
                            <a:srgbClr val="1C2230"/>
                          </a:solidFill>
                          <a:latin typeface="Courier New"/>
                        </a:rPr>
                        <a:t>v2</a:t>
                      </a:r>
                    </a:p>
                  </a:txBody>
                  <a:tcPr>
                    <a:solidFill>
                      <a:srgbClr val="F4F6F9"/>
                    </a:solidFill>
                  </a:tcPr>
                </a:tc>
                <a:tc>
                  <a:txBody>
                    <a:bodyPr/>
                    <a:lstStyle/>
                    <a:p>
                      <a:r>
                        <a:rPr sz="1500" b="0">
                          <a:solidFill>
                            <a:srgbClr val="1C2230"/>
                          </a:solidFill>
                          <a:latin typeface="Arial"/>
                        </a:rPr>
                        <a:t>Ambiguities and document-review gaps resolved in the spec</a:t>
                      </a:r>
                    </a:p>
                  </a:txBody>
                  <a:tcPr>
                    <a:solidFill>
                      <a:srgbClr val="FFFFFF"/>
                    </a:solidFill>
                  </a:tcPr>
                </a:tc>
                <a:tc>
                  <a:txBody>
                    <a:bodyPr/>
                    <a:lstStyle/>
                    <a:p>
                      <a:r>
                        <a:rPr sz="1500" b="0">
                          <a:solidFill>
                            <a:srgbClr val="1C2230"/>
                          </a:solidFill>
                          <a:latin typeface="Arial"/>
                        </a:rPr>
                        <a:t>Acknowledgement column, notification recipients, S7 walkthrough; tests 52 → 58</a:t>
                      </a:r>
                    </a:p>
                  </a:txBody>
                  <a:tcPr>
                    <a:solidFill>
                      <a:srgbClr val="FFFFFF"/>
                    </a:solidFill>
                  </a:tcPr>
                </a:tc>
              </a:tr>
              <a:tr h="700000">
                <a:tc>
                  <a:txBody>
                    <a:bodyPr/>
                    <a:lstStyle/>
                    <a:p>
                      <a:r>
                        <a:rPr sz="1400" b="1">
                          <a:solidFill>
                            <a:srgbClr val="1C2230"/>
                          </a:solidFill>
                          <a:latin typeface="Courier New"/>
                        </a:rPr>
                        <a:t>v3</a:t>
                      </a:r>
                    </a:p>
                  </a:txBody>
                  <a:tcPr>
                    <a:solidFill>
                      <a:srgbClr val="F4F6F9"/>
                    </a:solidFill>
                  </a:tcPr>
                </a:tc>
                <a:tc>
                  <a:txBody>
                    <a:bodyPr/>
                    <a:lstStyle/>
                    <a:p>
                      <a:r>
                        <a:rPr sz="1500" b="0">
                          <a:solidFill>
                            <a:srgbClr val="1C2230"/>
                          </a:solidFill>
                          <a:latin typeface="Arial"/>
                        </a:rPr>
                        <a:t>UI review of the running app</a:t>
                      </a:r>
                    </a:p>
                  </a:txBody>
                  <a:tcPr>
                    <a:solidFill>
                      <a:srgbClr val="FFFFFF"/>
                    </a:solidFill>
                  </a:tcPr>
                </a:tc>
                <a:tc>
                  <a:txBody>
                    <a:bodyPr/>
                    <a:lstStyle/>
                    <a:p>
                      <a:r>
                        <a:rPr sz="1500" b="0">
                          <a:solidFill>
                            <a:srgbClr val="1C2230"/>
                          </a:solidFill>
                          <a:latin typeface="Arial"/>
                        </a:rPr>
                        <a:t>Time-grid board, page purposes, overview strip, empty states</a:t>
                      </a:r>
                    </a:p>
                  </a:txBody>
                  <a:tcPr>
                    <a:solidFill>
                      <a:srgbClr val="FFFFFF"/>
                    </a:solidFill>
                  </a:tcPr>
                </a:tc>
              </a:tr>
              <a:tr h="700000">
                <a:tc>
                  <a:txBody>
                    <a:bodyPr/>
                    <a:lstStyle/>
                    <a:p>
                      <a:r>
                        <a:rPr sz="1400" b="1">
                          <a:solidFill>
                            <a:srgbClr val="1C2230"/>
                          </a:solidFill>
                          <a:latin typeface="Courier New"/>
                        </a:rPr>
                        <a:t>Check</a:t>
                      </a:r>
                    </a:p>
                  </a:txBody>
                  <a:tcPr>
                    <a:solidFill>
                      <a:srgbClr val="F4F6F9"/>
                    </a:solidFill>
                  </a:tcPr>
                </a:tc>
                <a:tc>
                  <a:txBody>
                    <a:bodyPr/>
                    <a:lstStyle/>
                    <a:p>
                      <a:r>
                        <a:rPr sz="1500" b="0">
                          <a:solidFill>
                            <a:srgbClr val="1C2230"/>
                          </a:solidFill>
                          <a:latin typeface="Arial"/>
                        </a:rPr>
                        <a:t>Final prompt re-run in an empty folder</a:t>
                      </a:r>
                    </a:p>
                  </a:txBody>
                  <a:tcPr>
                    <a:solidFill>
                      <a:srgbClr val="FFFFFF"/>
                    </a:solidFill>
                  </a:tcPr>
                </a:tc>
                <a:tc>
                  <a:txBody>
                    <a:bodyPr/>
                    <a:lstStyle/>
                    <a:p>
                      <a:r>
                        <a:rPr sz="1500" b="0">
                          <a:solidFill>
                            <a:srgbClr val="1C2230"/>
                          </a:solidFill>
                          <a:latin typeface="Arial"/>
                        </a:rPr>
                        <a:t>Rebuilt system run against our test suite</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Demo: request and accept</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11 / 15   ·   Minkyung Kim</a:t>
            </a:r>
          </a:p>
        </p:txBody>
      </p:sp>
      <p:pic>
        <p:nvPicPr>
          <p:cNvPr id="5" name="Picture 4" descr="ui-05-inbox.png"/>
          <p:cNvPicPr>
            <a:picLocks noChangeAspect="1"/>
          </p:cNvPicPr>
          <p:nvPr/>
        </p:nvPicPr>
        <p:blipFill>
          <a:blip r:embed="rId2"/>
          <a:stretch>
            <a:fillRect/>
          </a:stretch>
        </p:blipFill>
        <p:spPr>
          <a:xfrm>
            <a:off x="640000" y="1786728"/>
            <a:ext cx="10912000" cy="3376543"/>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Minho's inbox: Accept or Decline directly on the notification (at most 2 clicks, NFR-01)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Approval shows the effect on pay</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12 / 15   ·   Minkyung Kim</a:t>
            </a:r>
          </a:p>
        </p:txBody>
      </p:sp>
      <p:pic>
        <p:nvPicPr>
          <p:cNvPr id="5" name="Picture 4" descr="ui-06-approval.png"/>
          <p:cNvPicPr>
            <a:picLocks noChangeAspect="1"/>
          </p:cNvPicPr>
          <p:nvPr/>
        </p:nvPicPr>
        <p:blipFill>
          <a:blip r:embed="rId2"/>
          <a:stretch>
            <a:fillRect/>
          </a:stretch>
        </p:blipFill>
        <p:spPr>
          <a:xfrm>
            <a:off x="3187862" y="1250000"/>
            <a:ext cx="5816276"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Before/after comparison for both workers: Minho 16 → 21 scheduled hours, eligibility unchanged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Month end: payroll with legal checks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13 / 15   ·   Minkyung Kim</a:t>
            </a:r>
          </a:p>
        </p:txBody>
      </p:sp>
      <p:pic>
        <p:nvPicPr>
          <p:cNvPr id="5" name="Picture 4" descr="ui-10-payroll.png"/>
          <p:cNvPicPr>
            <a:picLocks noChangeAspect="1"/>
          </p:cNvPicPr>
          <p:nvPr/>
        </p:nvPicPr>
        <p:blipFill>
          <a:blip r:embed="rId2"/>
          <a:stretch>
            <a:fillRect/>
          </a:stretch>
        </p:blipFill>
        <p:spPr>
          <a:xfrm>
            <a:off x="3608131" y="1250000"/>
            <a:ext cx="4975738"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Doyun's wage is below the 2026 minimum: the owner must acknowledge before confirming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Testing</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14 / 15   ·   Minkyung Kim</a:t>
            </a:r>
          </a:p>
        </p:txBody>
      </p:sp>
      <p:sp>
        <p:nvSpPr>
          <p:cNvPr id="5" name="TextBox 4"/>
          <p:cNvSpPr txBox="1"/>
          <p:nvPr/>
        </p:nvSpPr>
        <p:spPr>
          <a:xfrm>
            <a:off x="640000" y="1450000"/>
            <a:ext cx="2528000" cy="900000"/>
          </a:xfrm>
          <a:prstGeom prst="rect">
            <a:avLst/>
          </a:prstGeom>
          <a:noFill/>
        </p:spPr>
        <p:txBody>
          <a:bodyPr wrap="square">
            <a:spAutoFit/>
          </a:bodyPr>
          <a:lstStyle/>
          <a:p>
            <a:pPr algn="l">
              <a:spcAft>
                <a:spcPts val="2400"/>
              </a:spcAft>
            </a:pPr>
            <a:r>
              <a:rPr sz="4800" b="1">
                <a:solidFill>
                  <a:srgbClr val="2B5BD7"/>
                </a:solidFill>
                <a:latin typeface="Arial"/>
              </a:rPr>
              <a:t>58/58</a:t>
            </a:r>
          </a:p>
        </p:txBody>
      </p:sp>
      <p:sp>
        <p:nvSpPr>
          <p:cNvPr id="6" name="TextBox 5"/>
          <p:cNvSpPr txBox="1"/>
          <p:nvPr/>
        </p:nvSpPr>
        <p:spPr>
          <a:xfrm>
            <a:off x="640000" y="2350000"/>
            <a:ext cx="2528000" cy="400000"/>
          </a:xfrm>
          <a:prstGeom prst="rect">
            <a:avLst/>
          </a:prstGeom>
          <a:noFill/>
        </p:spPr>
        <p:txBody>
          <a:bodyPr wrap="square">
            <a:spAutoFit/>
          </a:bodyPr>
          <a:lstStyle/>
          <a:p>
            <a:pPr algn="l">
              <a:spcAft>
                <a:spcPts val="900"/>
              </a:spcAft>
            </a:pPr>
            <a:r>
              <a:rPr sz="1800" b="1">
                <a:solidFill>
                  <a:srgbClr val="1C2230"/>
                </a:solidFill>
                <a:latin typeface="Arial"/>
              </a:rPr>
              <a:t>tests pass</a:t>
            </a:r>
          </a:p>
        </p:txBody>
      </p:sp>
      <p:sp>
        <p:nvSpPr>
          <p:cNvPr id="7" name="TextBox 6"/>
          <p:cNvSpPr txBox="1"/>
          <p:nvPr/>
        </p:nvSpPr>
        <p:spPr>
          <a:xfrm>
            <a:off x="640000" y="2750000"/>
            <a:ext cx="2528000" cy="500000"/>
          </a:xfrm>
          <a:prstGeom prst="rect">
            <a:avLst/>
          </a:prstGeom>
          <a:noFill/>
        </p:spPr>
        <p:txBody>
          <a:bodyPr wrap="square">
            <a:spAutoFit/>
          </a:bodyPr>
          <a:lstStyle/>
          <a:p>
            <a:pPr algn="l">
              <a:spcAft>
                <a:spcPts val="650"/>
              </a:spcAft>
            </a:pPr>
            <a:r>
              <a:rPr sz="1300" b="0">
                <a:solidFill>
                  <a:srgbClr val="4A5163"/>
                </a:solidFill>
                <a:latin typeface="Arial"/>
              </a:rPr>
              <a:t>npm test, Node test runner</a:t>
            </a:r>
          </a:p>
        </p:txBody>
      </p:sp>
      <p:sp>
        <p:nvSpPr>
          <p:cNvPr id="8" name="TextBox 7"/>
          <p:cNvSpPr txBox="1"/>
          <p:nvPr/>
        </p:nvSpPr>
        <p:spPr>
          <a:xfrm>
            <a:off x="3368000" y="1450000"/>
            <a:ext cx="2528000" cy="900000"/>
          </a:xfrm>
          <a:prstGeom prst="rect">
            <a:avLst/>
          </a:prstGeom>
          <a:noFill/>
        </p:spPr>
        <p:txBody>
          <a:bodyPr wrap="square">
            <a:spAutoFit/>
          </a:bodyPr>
          <a:lstStyle/>
          <a:p>
            <a:pPr algn="l">
              <a:spcAft>
                <a:spcPts val="2400"/>
              </a:spcAft>
            </a:pPr>
            <a:r>
              <a:rPr sz="4800" b="1">
                <a:solidFill>
                  <a:srgbClr val="2B5BD7"/>
                </a:solidFill>
                <a:latin typeface="Arial"/>
              </a:rPr>
              <a:t>12/12</a:t>
            </a:r>
          </a:p>
        </p:txBody>
      </p:sp>
      <p:sp>
        <p:nvSpPr>
          <p:cNvPr id="9" name="TextBox 8"/>
          <p:cNvSpPr txBox="1"/>
          <p:nvPr/>
        </p:nvSpPr>
        <p:spPr>
          <a:xfrm>
            <a:off x="3368000" y="2350000"/>
            <a:ext cx="2528000" cy="400000"/>
          </a:xfrm>
          <a:prstGeom prst="rect">
            <a:avLst/>
          </a:prstGeom>
          <a:noFill/>
        </p:spPr>
        <p:txBody>
          <a:bodyPr wrap="square">
            <a:spAutoFit/>
          </a:bodyPr>
          <a:lstStyle/>
          <a:p>
            <a:pPr algn="l">
              <a:spcAft>
                <a:spcPts val="900"/>
              </a:spcAft>
            </a:pPr>
            <a:r>
              <a:rPr sz="1800" b="1">
                <a:solidFill>
                  <a:srgbClr val="1C2230"/>
                </a:solidFill>
                <a:latin typeface="Arial"/>
              </a:rPr>
              <a:t>business rules tested</a:t>
            </a:r>
          </a:p>
        </p:txBody>
      </p:sp>
      <p:sp>
        <p:nvSpPr>
          <p:cNvPr id="10" name="TextBox 9"/>
          <p:cNvSpPr txBox="1"/>
          <p:nvPr/>
        </p:nvSpPr>
        <p:spPr>
          <a:xfrm>
            <a:off x="3368000" y="2750000"/>
            <a:ext cx="2528000" cy="500000"/>
          </a:xfrm>
          <a:prstGeom prst="rect">
            <a:avLst/>
          </a:prstGeom>
          <a:noFill/>
        </p:spPr>
        <p:txBody>
          <a:bodyPr wrap="square">
            <a:spAutoFit/>
          </a:bodyPr>
          <a:lstStyle/>
          <a:p>
            <a:pPr algn="l">
              <a:spcAft>
                <a:spcPts val="650"/>
              </a:spcAft>
            </a:pPr>
            <a:r>
              <a:rPr sz="1300" b="0">
                <a:solidFill>
                  <a:srgbClr val="4A5163"/>
                </a:solidFill>
                <a:latin typeface="Arial"/>
              </a:rPr>
              <a:t>every BR has ≥ 1 test</a:t>
            </a:r>
          </a:p>
        </p:txBody>
      </p:sp>
      <p:sp>
        <p:nvSpPr>
          <p:cNvPr id="11" name="TextBox 10"/>
          <p:cNvSpPr txBox="1"/>
          <p:nvPr/>
        </p:nvSpPr>
        <p:spPr>
          <a:xfrm>
            <a:off x="6096000" y="1450000"/>
            <a:ext cx="2528000" cy="900000"/>
          </a:xfrm>
          <a:prstGeom prst="rect">
            <a:avLst/>
          </a:prstGeom>
          <a:noFill/>
        </p:spPr>
        <p:txBody>
          <a:bodyPr wrap="square">
            <a:spAutoFit/>
          </a:bodyPr>
          <a:lstStyle/>
          <a:p>
            <a:pPr algn="l">
              <a:spcAft>
                <a:spcPts val="2400"/>
              </a:spcAft>
            </a:pPr>
            <a:r>
              <a:rPr sz="4800" b="1">
                <a:solidFill>
                  <a:srgbClr val="2B5BD7"/>
                </a:solidFill>
                <a:latin typeface="Arial"/>
              </a:rPr>
              <a:t>21/21</a:t>
            </a:r>
          </a:p>
        </p:txBody>
      </p:sp>
      <p:sp>
        <p:nvSpPr>
          <p:cNvPr id="12" name="TextBox 11"/>
          <p:cNvSpPr txBox="1"/>
          <p:nvPr/>
        </p:nvSpPr>
        <p:spPr>
          <a:xfrm>
            <a:off x="6096000" y="2350000"/>
            <a:ext cx="2528000" cy="400000"/>
          </a:xfrm>
          <a:prstGeom prst="rect">
            <a:avLst/>
          </a:prstGeom>
          <a:noFill/>
        </p:spPr>
        <p:txBody>
          <a:bodyPr wrap="square">
            <a:spAutoFit/>
          </a:bodyPr>
          <a:lstStyle/>
          <a:p>
            <a:pPr algn="l">
              <a:spcAft>
                <a:spcPts val="900"/>
              </a:spcAft>
            </a:pPr>
            <a:r>
              <a:rPr sz="1800" b="1">
                <a:solidFill>
                  <a:srgbClr val="1C2230"/>
                </a:solidFill>
                <a:latin typeface="Arial"/>
              </a:rPr>
              <a:t>FRs traced</a:t>
            </a:r>
          </a:p>
        </p:txBody>
      </p:sp>
      <p:sp>
        <p:nvSpPr>
          <p:cNvPr id="13" name="TextBox 12"/>
          <p:cNvSpPr txBox="1"/>
          <p:nvPr/>
        </p:nvSpPr>
        <p:spPr>
          <a:xfrm>
            <a:off x="6096000" y="2750000"/>
            <a:ext cx="2528000" cy="500000"/>
          </a:xfrm>
          <a:prstGeom prst="rect">
            <a:avLst/>
          </a:prstGeom>
          <a:noFill/>
        </p:spPr>
        <p:txBody>
          <a:bodyPr wrap="square">
            <a:spAutoFit/>
          </a:bodyPr>
          <a:lstStyle/>
          <a:p>
            <a:pPr algn="l">
              <a:spcAft>
                <a:spcPts val="650"/>
              </a:spcAft>
            </a:pPr>
            <a:r>
              <a:rPr sz="1300" b="0">
                <a:solidFill>
                  <a:srgbClr val="4A5163"/>
                </a:solidFill>
                <a:latin typeface="Arial"/>
              </a:rPr>
              <a:t>FR → UC → screen → function → test</a:t>
            </a:r>
          </a:p>
        </p:txBody>
      </p:sp>
      <p:sp>
        <p:nvSpPr>
          <p:cNvPr id="14" name="TextBox 13"/>
          <p:cNvSpPr txBox="1"/>
          <p:nvPr/>
        </p:nvSpPr>
        <p:spPr>
          <a:xfrm>
            <a:off x="8824000" y="1450000"/>
            <a:ext cx="2528000" cy="900000"/>
          </a:xfrm>
          <a:prstGeom prst="rect">
            <a:avLst/>
          </a:prstGeom>
          <a:noFill/>
        </p:spPr>
        <p:txBody>
          <a:bodyPr wrap="square">
            <a:spAutoFit/>
          </a:bodyPr>
          <a:lstStyle/>
          <a:p>
            <a:pPr algn="l">
              <a:spcAft>
                <a:spcPts val="2400"/>
              </a:spcAft>
            </a:pPr>
            <a:r>
              <a:rPr sz="4800" b="1">
                <a:solidFill>
                  <a:srgbClr val="2B5BD7"/>
                </a:solidFill>
                <a:latin typeface="Arial"/>
              </a:rPr>
              <a:t>2</a:t>
            </a:r>
          </a:p>
        </p:txBody>
      </p:sp>
      <p:sp>
        <p:nvSpPr>
          <p:cNvPr id="15" name="TextBox 14"/>
          <p:cNvSpPr txBox="1"/>
          <p:nvPr/>
        </p:nvSpPr>
        <p:spPr>
          <a:xfrm>
            <a:off x="8824000" y="2350000"/>
            <a:ext cx="2528000" cy="400000"/>
          </a:xfrm>
          <a:prstGeom prst="rect">
            <a:avLst/>
          </a:prstGeom>
          <a:noFill/>
        </p:spPr>
        <p:txBody>
          <a:bodyPr wrap="square">
            <a:spAutoFit/>
          </a:bodyPr>
          <a:lstStyle/>
          <a:p>
            <a:pPr algn="l">
              <a:spcAft>
                <a:spcPts val="900"/>
              </a:spcAft>
            </a:pPr>
            <a:r>
              <a:rPr sz="1800" b="1">
                <a:solidFill>
                  <a:srgbClr val="1C2230"/>
                </a:solidFill>
                <a:latin typeface="Arial"/>
              </a:rPr>
              <a:t>screen widths</a:t>
            </a:r>
          </a:p>
        </p:txBody>
      </p:sp>
      <p:sp>
        <p:nvSpPr>
          <p:cNvPr id="16" name="TextBox 15"/>
          <p:cNvSpPr txBox="1"/>
          <p:nvPr/>
        </p:nvSpPr>
        <p:spPr>
          <a:xfrm>
            <a:off x="8824000" y="2750000"/>
            <a:ext cx="2528000" cy="500000"/>
          </a:xfrm>
          <a:prstGeom prst="rect">
            <a:avLst/>
          </a:prstGeom>
          <a:noFill/>
        </p:spPr>
        <p:txBody>
          <a:bodyPr wrap="square">
            <a:spAutoFit/>
          </a:bodyPr>
          <a:lstStyle/>
          <a:p>
            <a:pPr algn="l">
              <a:spcAft>
                <a:spcPts val="650"/>
              </a:spcAft>
            </a:pPr>
            <a:r>
              <a:rPr sz="1300" b="0">
                <a:solidFill>
                  <a:srgbClr val="4A5163"/>
                </a:solidFill>
                <a:latin typeface="Arial"/>
              </a:rPr>
              <a:t>360 px and 1440 px, no horizontal scroll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Results and limits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15 / 15   ·   Minkyung Kim</a:t>
            </a:r>
          </a:p>
        </p:txBody>
      </p:sp>
      <p:graphicFrame>
        <p:nvGraphicFramePr>
          <p:cNvPr id="5" name="Table 4"/>
          <p:cNvGraphicFramePr>
            <a:graphicFrameLocks noGrp="1"/>
          </p:cNvGraphicFramePr>
          <p:nvPr/>
        </p:nvGraphicFramePr>
        <p:xfrm>
          <a:off x="640000" y="1450000"/>
          <a:ext cx="10912000" cy="2800000"/>
        </p:xfrm>
        <a:graphic>
          <a:graphicData uri="http://schemas.openxmlformats.org/drawingml/2006/table">
            <a:tbl>
              <a:tblPr firstRow="1" bandRow="1">
                <a:tableStyleId>{5C22544A-7EE6-4342-B048-85BDC9FD1C3A}</a:tableStyleId>
              </a:tblPr>
              <a:tblGrid>
                <a:gridCol w="1745920"/>
                <a:gridCol w="9166080"/>
              </a:tblGrid>
              <a:tr h="700000">
                <a:tc>
                  <a:txBody>
                    <a:bodyPr/>
                    <a:lstStyle/>
                    <a:p>
                      <a:r>
                        <a:rPr sz="1400" b="1">
                          <a:solidFill>
                            <a:srgbClr val="1C2230"/>
                          </a:solidFill>
                          <a:latin typeface="Courier New"/>
                        </a:rPr>
                        <a:t>Achieved</a:t>
                      </a:r>
                    </a:p>
                  </a:txBody>
                  <a:tcPr>
                    <a:solidFill>
                      <a:srgbClr val="F4F6F9"/>
                    </a:solidFill>
                  </a:tcPr>
                </a:tc>
                <a:tc>
                  <a:txBody>
                    <a:bodyPr/>
                    <a:lstStyle/>
                    <a:p>
                      <a:r>
                        <a:rPr sz="1500" b="0">
                          <a:solidFill>
                            <a:srgbClr val="1C2230"/>
                          </a:solidFill>
                          <a:latin typeface="Arial"/>
                        </a:rPr>
                        <a:t>0 owner contacts per request · 2-click accept · automatic recomputation for both workers · legal checks before payday</a:t>
                      </a:r>
                    </a:p>
                  </a:txBody>
                  <a:tcPr>
                    <a:solidFill>
                      <a:srgbClr val="FFFFFF"/>
                    </a:solidFill>
                  </a:tcPr>
                </a:tc>
              </a:tr>
              <a:tr h="700000">
                <a:tc>
                  <a:txBody>
                    <a:bodyPr/>
                    <a:lstStyle/>
                    <a:p>
                      <a:r>
                        <a:rPr sz="1400" b="1">
                          <a:solidFill>
                            <a:srgbClr val="1C2230"/>
                          </a:solidFill>
                          <a:latin typeface="Courier New"/>
                        </a:rPr>
                        <a:t>Size</a:t>
                      </a:r>
                    </a:p>
                  </a:txBody>
                  <a:tcPr>
                    <a:solidFill>
                      <a:srgbClr val="F4F6F9"/>
                    </a:solidFill>
                  </a:tcPr>
                </a:tc>
                <a:tc>
                  <a:txBody>
                    <a:bodyPr/>
                    <a:lstStyle/>
                    <a:p>
                      <a:r>
                        <a:rPr sz="1500" b="0">
                          <a:solidFill>
                            <a:srgbClr val="1C2230"/>
                          </a:solidFill>
                          <a:latin typeface="Arial"/>
                        </a:rPr>
                        <a:t>13 use cases · 12 tables · 3,644 lines of application code · 650 lines of tests</a:t>
                      </a:r>
                    </a:p>
                  </a:txBody>
                  <a:tcPr>
                    <a:solidFill>
                      <a:srgbClr val="FFFFFF"/>
                    </a:solidFill>
                  </a:tcPr>
                </a:tc>
              </a:tr>
              <a:tr h="700000">
                <a:tc>
                  <a:txBody>
                    <a:bodyPr/>
                    <a:lstStyle/>
                    <a:p>
                      <a:r>
                        <a:rPr sz="1400" b="1">
                          <a:solidFill>
                            <a:srgbClr val="1C2230"/>
                          </a:solidFill>
                          <a:latin typeface="Courier New"/>
                        </a:rPr>
                        <a:t>Limits</a:t>
                      </a:r>
                    </a:p>
                  </a:txBody>
                  <a:tcPr>
                    <a:solidFill>
                      <a:srgbClr val="F4F6F9"/>
                    </a:solidFill>
                  </a:tcPr>
                </a:tc>
                <a:tc>
                  <a:txBody>
                    <a:bodyPr/>
                    <a:lstStyle/>
                    <a:p>
                      <a:r>
                        <a:rPr sz="1500" b="0">
                          <a:solidFill>
                            <a:srgbClr val="1C2230"/>
                          </a:solidFill>
                          <a:latin typeface="Arial"/>
                        </a:rPr>
                        <a:t>Demo accounts without passwords · data stays in one browser · no messaging outside the app</a:t>
                      </a:r>
                    </a:p>
                  </a:txBody>
                  <a:tcPr>
                    <a:solidFill>
                      <a:srgbClr val="FFFFFF"/>
                    </a:solidFill>
                  </a:tcPr>
                </a:tc>
              </a:tr>
              <a:tr h="700000">
                <a:tc>
                  <a:txBody>
                    <a:bodyPr/>
                    <a:lstStyle/>
                    <a:p>
                      <a:r>
                        <a:rPr sz="1400" b="1">
                          <a:solidFill>
                            <a:srgbClr val="1C2230"/>
                          </a:solidFill>
                          <a:latin typeface="Courier New"/>
                        </a:rPr>
                        <a:t>Next</a:t>
                      </a:r>
                    </a:p>
                  </a:txBody>
                  <a:tcPr>
                    <a:solidFill>
                      <a:srgbClr val="F4F6F9"/>
                    </a:solidFill>
                  </a:tcPr>
                </a:tc>
                <a:tc>
                  <a:txBody>
                    <a:bodyPr/>
                    <a:lstStyle/>
                    <a:p>
                      <a:r>
                        <a:rPr sz="1500" b="0">
                          <a:solidFill>
                            <a:srgbClr val="1C2230"/>
                          </a:solidFill>
                          <a:latin typeface="Arial"/>
                        </a:rPr>
                        <a:t>Server-side database and login · KakaoTalk notifications · field test in the reference store</a:t>
                      </a:r>
                    </a:p>
                  </a:txBody>
                  <a:tcP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